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60" r:id="rId4"/>
    <p:sldId id="257" r:id="rId5"/>
    <p:sldId id="258" r:id="rId6"/>
    <p:sldId id="259" r:id="rId7"/>
    <p:sldId id="261" r:id="rId8"/>
    <p:sldId id="262" r:id="rId9"/>
    <p:sldId id="271" r:id="rId10"/>
    <p:sldId id="263" r:id="rId11"/>
    <p:sldId id="268" r:id="rId12"/>
    <p:sldId id="269"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E550BF-CB12-43B1-AE83-1781A6C350A0}" v="6" dt="2025-05-02T05:34:35.319"/>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7" d="100"/>
          <a:sy n="77" d="100"/>
        </p:scale>
        <p:origin x="91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0 k" userId="422f85b1c9817b1c" providerId="LiveId" clId="{28E550BF-CB12-43B1-AE83-1781A6C350A0}"/>
    <pc:docChg chg="undo custSel addSld delSld modSld">
      <pc:chgData name="10 k" userId="422f85b1c9817b1c" providerId="LiveId" clId="{28E550BF-CB12-43B1-AE83-1781A6C350A0}" dt="2025-05-02T05:35:26.109" v="40" actId="208"/>
      <pc:docMkLst>
        <pc:docMk/>
      </pc:docMkLst>
      <pc:sldChg chg="modSp mod">
        <pc:chgData name="10 k" userId="422f85b1c9817b1c" providerId="LiveId" clId="{28E550BF-CB12-43B1-AE83-1781A6C350A0}" dt="2025-05-02T05:27:57.763" v="5" actId="1076"/>
        <pc:sldMkLst>
          <pc:docMk/>
          <pc:sldMk cId="0" sldId="257"/>
        </pc:sldMkLst>
        <pc:picChg chg="mod">
          <ac:chgData name="10 k" userId="422f85b1c9817b1c" providerId="LiveId" clId="{28E550BF-CB12-43B1-AE83-1781A6C350A0}" dt="2025-05-02T05:27:57.763" v="5" actId="1076"/>
          <ac:picMkLst>
            <pc:docMk/>
            <pc:sldMk cId="0" sldId="257"/>
            <ac:picMk id="7" creationId="{00000000-0000-0000-0000-000000000000}"/>
          </ac:picMkLst>
        </pc:picChg>
      </pc:sldChg>
      <pc:sldChg chg="modSp del mod">
        <pc:chgData name="10 k" userId="422f85b1c9817b1c" providerId="LiveId" clId="{28E550BF-CB12-43B1-AE83-1781A6C350A0}" dt="2025-05-02T05:35:10.120" v="39" actId="2696"/>
        <pc:sldMkLst>
          <pc:docMk/>
          <pc:sldMk cId="0" sldId="264"/>
        </pc:sldMkLst>
        <pc:spChg chg="mod">
          <ac:chgData name="10 k" userId="422f85b1c9817b1c" providerId="LiveId" clId="{28E550BF-CB12-43B1-AE83-1781A6C350A0}" dt="2025-05-02T05:33:37.329" v="30" actId="21"/>
          <ac:spMkLst>
            <pc:docMk/>
            <pc:sldMk cId="0" sldId="264"/>
            <ac:spMk id="2" creationId="{00000000-0000-0000-0000-000000000000}"/>
          </ac:spMkLst>
        </pc:spChg>
        <pc:graphicFrameChg chg="modGraphic">
          <ac:chgData name="10 k" userId="422f85b1c9817b1c" providerId="LiveId" clId="{28E550BF-CB12-43B1-AE83-1781A6C350A0}" dt="2025-05-02T05:34:26.122" v="36" actId="14734"/>
          <ac:graphicFrameMkLst>
            <pc:docMk/>
            <pc:sldMk cId="0" sldId="264"/>
            <ac:graphicFrameMk id="4" creationId="{00000000-0000-0000-0000-000000000000}"/>
          </ac:graphicFrameMkLst>
        </pc:graphicFrameChg>
      </pc:sldChg>
      <pc:sldChg chg="addSp delSp modSp mod">
        <pc:chgData name="10 k" userId="422f85b1c9817b1c" providerId="LiveId" clId="{28E550BF-CB12-43B1-AE83-1781A6C350A0}" dt="2025-05-02T05:31:58.457" v="25" actId="14100"/>
        <pc:sldMkLst>
          <pc:docMk/>
          <pc:sldMk cId="0" sldId="265"/>
        </pc:sldMkLst>
        <pc:spChg chg="mod">
          <ac:chgData name="10 k" userId="422f85b1c9817b1c" providerId="LiveId" clId="{28E550BF-CB12-43B1-AE83-1781A6C350A0}" dt="2025-05-02T05:31:58.457" v="25" actId="14100"/>
          <ac:spMkLst>
            <pc:docMk/>
            <pc:sldMk cId="0" sldId="265"/>
            <ac:spMk id="4" creationId="{00000000-0000-0000-0000-000000000000}"/>
          </ac:spMkLst>
        </pc:spChg>
        <pc:spChg chg="add del mod">
          <ac:chgData name="10 k" userId="422f85b1c9817b1c" providerId="LiveId" clId="{28E550BF-CB12-43B1-AE83-1781A6C350A0}" dt="2025-05-02T05:30:32.438" v="17"/>
          <ac:spMkLst>
            <pc:docMk/>
            <pc:sldMk cId="0" sldId="265"/>
            <ac:spMk id="5" creationId="{65A64908-A87F-3E39-5AB1-957667F0BF8C}"/>
          </ac:spMkLst>
        </pc:spChg>
      </pc:sldChg>
      <pc:sldChg chg="addSp delSp modSp new mod">
        <pc:chgData name="10 k" userId="422f85b1c9817b1c" providerId="LiveId" clId="{28E550BF-CB12-43B1-AE83-1781A6C350A0}" dt="2025-05-02T05:35:26.109" v="40" actId="208"/>
        <pc:sldMkLst>
          <pc:docMk/>
          <pc:sldMk cId="2272064520" sldId="271"/>
        </pc:sldMkLst>
        <pc:spChg chg="mod">
          <ac:chgData name="10 k" userId="422f85b1c9817b1c" providerId="LiveId" clId="{28E550BF-CB12-43B1-AE83-1781A6C350A0}" dt="2025-05-02T05:35:26.109" v="40" actId="208"/>
          <ac:spMkLst>
            <pc:docMk/>
            <pc:sldMk cId="2272064520" sldId="271"/>
            <ac:spMk id="2" creationId="{BC59568E-329E-1FA0-6470-38749801FC5E}"/>
          </ac:spMkLst>
        </pc:spChg>
        <pc:spChg chg="del">
          <ac:chgData name="10 k" userId="422f85b1c9817b1c" providerId="LiveId" clId="{28E550BF-CB12-43B1-AE83-1781A6C350A0}" dt="2025-05-02T05:33:15.618" v="27" actId="3680"/>
          <ac:spMkLst>
            <pc:docMk/>
            <pc:sldMk cId="2272064520" sldId="271"/>
            <ac:spMk id="3" creationId="{961ADD39-D59B-C333-238C-21C289E270A5}"/>
          </ac:spMkLst>
        </pc:spChg>
        <pc:graphicFrameChg chg="add mod ord modGraphic">
          <ac:chgData name="10 k" userId="422f85b1c9817b1c" providerId="LiveId" clId="{28E550BF-CB12-43B1-AE83-1781A6C350A0}" dt="2025-05-02T05:35:00.604" v="38" actId="2164"/>
          <ac:graphicFrameMkLst>
            <pc:docMk/>
            <pc:sldMk cId="2272064520" sldId="271"/>
            <ac:graphicFrameMk id="4" creationId="{F6F0CF62-5A82-F49D-3F41-7B381E3E1A36}"/>
          </ac:graphicFrameMkLst>
        </pc:graphicFrameChg>
        <pc:picChg chg="add mod">
          <ac:chgData name="10 k" userId="422f85b1c9817b1c" providerId="LiveId" clId="{28E550BF-CB12-43B1-AE83-1781A6C350A0}" dt="2025-05-02T05:33:51.950" v="33"/>
          <ac:picMkLst>
            <pc:docMk/>
            <pc:sldMk cId="2272064520" sldId="271"/>
            <ac:picMk id="5" creationId="{217E7DB4-6A4F-A858-6BDA-97A0EF073BD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11A44CC-478A-4EF9-B55A-4A9D5B86F1C4}"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1A44CC-478A-4EF9-B55A-4A9D5B86F1C4}"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1A44CC-478A-4EF9-B55A-4A9D5B86F1C4}"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11A44CC-478A-4EF9-B55A-4A9D5B86F1C4}"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11A44CC-478A-4EF9-B55A-4A9D5B86F1C4}" type="datetimeFigureOut">
              <a:rPr lang="en-IN" smtClean="0"/>
              <a:t>02-05-2025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11A44CC-478A-4EF9-B55A-4A9D5B86F1C4}" type="datetimeFigureOut">
              <a:rPr lang="en-IN" smtClean="0"/>
              <a:t>02-05-2025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1A44CC-478A-4EF9-B55A-4A9D5B86F1C4}" type="datetimeFigureOut">
              <a:rPr lang="en-IN" smtClean="0"/>
              <a:t>02-05-2025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1A44CC-478A-4EF9-B55A-4A9D5B86F1C4}"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1A44CC-478A-4EF9-B55A-4A9D5B86F1C4}"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1A44CC-478A-4EF9-B55A-4A9D5B86F1C4}"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1A44CC-478A-4EF9-B55A-4A9D5B86F1C4}"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F83A96-9346-4447-A72E-387FA014007E}"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1A44CC-478A-4EF9-B55A-4A9D5B86F1C4}" type="datetimeFigureOut">
              <a:rPr lang="en-IN" smtClean="0"/>
              <a:t>02-05-2025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F83A96-9346-4447-A72E-387FA014007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6538452" y="4915524"/>
            <a:ext cx="450317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
        <p:nvSpPr>
          <p:cNvPr id="4" name="Subtitle 2"/>
          <p:cNvSpPr txBox="1"/>
          <p:nvPr/>
        </p:nvSpPr>
        <p:spPr bwMode="auto">
          <a:xfrm>
            <a:off x="1790700" y="5207440"/>
            <a:ext cx="8686800" cy="1371600"/>
          </a:xfrm>
          <a:prstGeom prst="rect">
            <a:avLst/>
          </a:prstGeom>
        </p:spPr>
        <p:style>
          <a:lnRef idx="2">
            <a:schemeClr val="accent2"/>
          </a:lnRef>
          <a:fillRef idx="1">
            <a:schemeClr val="lt1"/>
          </a:fillRef>
          <a:effectRef idx="0">
            <a:schemeClr val="accent2"/>
          </a:effectRef>
          <a:fontRef idx="minor">
            <a:schemeClr val="dk1"/>
          </a:fontRef>
        </p:style>
        <p:txBody>
          <a:bodyPr>
            <a:normAutofit fontScale="92500" lnSpcReduction="20000"/>
          </a:bodyPr>
          <a:lstStyle>
            <a:defPPr>
              <a:defRPr lang="en-US"/>
            </a:defPPr>
            <a:lvl1pPr algn="l">
              <a:spcBef>
                <a:spcPts val="0"/>
              </a:spcBef>
              <a:spcAft>
                <a:spcPts val="0"/>
              </a:spcAft>
              <a:defRPr>
                <a:solidFill>
                  <a:schemeClr val="dk1"/>
                </a:solidFill>
                <a:latin typeface="+mn-lt"/>
                <a:ea typeface="+mn-ea"/>
                <a:cs typeface="+mn-cs"/>
              </a:defRPr>
            </a:lvl1pPr>
            <a:lvl2pPr marL="457200" algn="l">
              <a:spcBef>
                <a:spcPts val="0"/>
              </a:spcBef>
              <a:spcAft>
                <a:spcPts val="0"/>
              </a:spcAft>
              <a:defRPr>
                <a:solidFill>
                  <a:schemeClr val="dk1"/>
                </a:solidFill>
                <a:latin typeface="+mn-lt"/>
                <a:ea typeface="+mn-ea"/>
                <a:cs typeface="+mn-cs"/>
              </a:defRPr>
            </a:lvl2pPr>
            <a:lvl3pPr marL="914400" algn="l">
              <a:spcBef>
                <a:spcPts val="0"/>
              </a:spcBef>
              <a:spcAft>
                <a:spcPts val="0"/>
              </a:spcAft>
              <a:defRPr>
                <a:solidFill>
                  <a:schemeClr val="dk1"/>
                </a:solidFill>
                <a:latin typeface="+mn-lt"/>
                <a:ea typeface="+mn-ea"/>
                <a:cs typeface="+mn-cs"/>
              </a:defRPr>
            </a:lvl3pPr>
            <a:lvl4pPr marL="1371600" algn="l">
              <a:spcBef>
                <a:spcPts val="0"/>
              </a:spcBef>
              <a:spcAft>
                <a:spcPts val="0"/>
              </a:spcAft>
              <a:defRPr>
                <a:solidFill>
                  <a:schemeClr val="dk1"/>
                </a:solidFill>
                <a:latin typeface="+mn-lt"/>
                <a:ea typeface="+mn-ea"/>
                <a:cs typeface="+mn-cs"/>
              </a:defRPr>
            </a:lvl4pPr>
            <a:lvl5pPr marL="1828800" algn="l">
              <a:spcBef>
                <a:spcPts val="0"/>
              </a:spcBef>
              <a:spcAft>
                <a:spcPts val="0"/>
              </a:spcAft>
              <a:defRPr>
                <a:solidFill>
                  <a:schemeClr val="dk1"/>
                </a:solidFill>
                <a:latin typeface="+mn-lt"/>
                <a:ea typeface="+mn-ea"/>
                <a:cs typeface="+mn-cs"/>
              </a:defRPr>
            </a:lvl5pPr>
            <a:lvl6pPr marL="2286000" algn="l" defTabSz="914400">
              <a:defRPr>
                <a:solidFill>
                  <a:schemeClr val="dk1"/>
                </a:solidFill>
                <a:latin typeface="+mn-lt"/>
                <a:ea typeface="+mn-ea"/>
                <a:cs typeface="+mn-cs"/>
              </a:defRPr>
            </a:lvl6pPr>
            <a:lvl7pPr marL="2743200" algn="l" defTabSz="914400">
              <a:defRPr>
                <a:solidFill>
                  <a:schemeClr val="dk1"/>
                </a:solidFill>
                <a:latin typeface="+mn-lt"/>
                <a:ea typeface="+mn-ea"/>
                <a:cs typeface="+mn-cs"/>
              </a:defRPr>
            </a:lvl7pPr>
            <a:lvl8pPr marL="3200400" algn="l" defTabSz="914400">
              <a:defRPr>
                <a:solidFill>
                  <a:schemeClr val="dk1"/>
                </a:solidFill>
                <a:latin typeface="+mn-lt"/>
                <a:ea typeface="+mn-ea"/>
                <a:cs typeface="+mn-cs"/>
              </a:defRPr>
            </a:lvl8pPr>
            <a:lvl9pPr marL="3657600" algn="l" defTabSz="914400">
              <a:defRPr>
                <a:solidFill>
                  <a:schemeClr val="dk1"/>
                </a:solidFill>
                <a:latin typeface="+mn-lt"/>
                <a:ea typeface="+mn-ea"/>
                <a:cs typeface="+mn-cs"/>
              </a:defRPr>
            </a:lvl9pPr>
          </a:lstStyle>
          <a:p>
            <a:pPr algn="ctr">
              <a:spcBef>
                <a:spcPts val="0"/>
              </a:spcBef>
              <a:spcAft>
                <a:spcPts val="0"/>
              </a:spcAft>
              <a:buFont typeface="Arial" panose="020B0604020202020204"/>
              <a:buNone/>
              <a:defRPr/>
            </a:pPr>
            <a:r>
              <a:rPr lang="en-US" sz="3300" b="1" u="sng" dirty="0">
                <a:solidFill>
                  <a:srgbClr val="FF0000"/>
                </a:solidFill>
              </a:rPr>
              <a:t>Supervisor</a:t>
            </a:r>
            <a:endParaRPr dirty="0"/>
          </a:p>
          <a:p>
            <a:pPr algn="ctr">
              <a:spcBef>
                <a:spcPts val="0"/>
              </a:spcBef>
              <a:spcAft>
                <a:spcPts val="0"/>
              </a:spcAft>
              <a:buFont typeface="Arial" panose="020B0604020202020204"/>
              <a:buNone/>
              <a:defRPr/>
            </a:pPr>
            <a:r>
              <a:rPr lang="en-IN" sz="3000" b="1" dirty="0">
                <a:solidFill>
                  <a:srgbClr val="002060"/>
                </a:solidFill>
              </a:rPr>
              <a:t>Dr. M.A. Jabbar</a:t>
            </a:r>
            <a:endParaRPr dirty="0"/>
          </a:p>
          <a:p>
            <a:pPr algn="ctr">
              <a:spcBef>
                <a:spcPts val="0"/>
              </a:spcBef>
              <a:spcAft>
                <a:spcPts val="0"/>
              </a:spcAft>
              <a:buFont typeface="Arial" panose="020B0604020202020204"/>
              <a:buNone/>
              <a:defRPr/>
            </a:pPr>
            <a:r>
              <a:rPr lang="en-US" sz="2200" b="1" dirty="0">
                <a:solidFill>
                  <a:srgbClr val="002060"/>
                </a:solidFill>
              </a:rPr>
              <a:t>Head of the Department</a:t>
            </a:r>
            <a:endParaRPr dirty="0"/>
          </a:p>
          <a:p>
            <a:pPr algn="ctr">
              <a:spcBef>
                <a:spcPts val="0"/>
              </a:spcBef>
              <a:spcAft>
                <a:spcPts val="0"/>
              </a:spcAft>
              <a:buFont typeface="Arial" panose="020B0604020202020204"/>
              <a:buNone/>
              <a:defRPr/>
            </a:pPr>
            <a:r>
              <a:rPr lang="en-US" sz="2200" b="1" dirty="0">
                <a:solidFill>
                  <a:srgbClr val="002060"/>
                </a:solidFill>
              </a:rPr>
              <a:t>Department of CSM</a:t>
            </a:r>
            <a:endParaRPr dirty="0"/>
          </a:p>
          <a:p>
            <a:pPr algn="ctr">
              <a:spcBef>
                <a:spcPts val="0"/>
              </a:spcBef>
              <a:spcAft>
                <a:spcPts val="0"/>
              </a:spcAft>
              <a:buFont typeface="Arial" panose="020B0604020202020204"/>
              <a:buNone/>
              <a:defRPr/>
            </a:pPr>
            <a:endParaRPr lang="en-US" sz="1600" b="1" dirty="0">
              <a:solidFill>
                <a:srgbClr val="002060"/>
              </a:solidFill>
            </a:endParaRPr>
          </a:p>
        </p:txBody>
      </p:sp>
      <p:sp>
        <p:nvSpPr>
          <p:cNvPr id="6" name="Title 1"/>
          <p:cNvSpPr txBox="1"/>
          <p:nvPr/>
        </p:nvSpPr>
        <p:spPr bwMode="auto">
          <a:xfrm>
            <a:off x="4438176" y="2805511"/>
            <a:ext cx="3657600" cy="533400"/>
          </a:xfrm>
          <a:prstGeom prst="rect">
            <a:avLst/>
          </a:prstGeom>
        </p:spPr>
        <p:style>
          <a:lnRef idx="2">
            <a:schemeClr val="accent1"/>
          </a:lnRef>
          <a:fillRef idx="1">
            <a:schemeClr val="lt1"/>
          </a:fillRef>
          <a:effectRef idx="0">
            <a:schemeClr val="accent1"/>
          </a:effectRef>
          <a:fontRef idx="minor">
            <a:schemeClr val="dk1"/>
          </a:fontRef>
        </p:style>
        <p:txBody>
          <a:bodyPr anchor="ctr">
            <a:normAutofit/>
          </a:bodyPr>
          <a:lstStyle>
            <a:defPPr>
              <a:defRPr lang="en-US"/>
            </a:defPPr>
            <a:lvl1pPr algn="l">
              <a:spcBef>
                <a:spcPts val="0"/>
              </a:spcBef>
              <a:spcAft>
                <a:spcPts val="0"/>
              </a:spcAft>
              <a:defRPr>
                <a:solidFill>
                  <a:schemeClr val="dk1"/>
                </a:solidFill>
                <a:latin typeface="+mn-lt"/>
                <a:ea typeface="+mn-ea"/>
                <a:cs typeface="+mn-cs"/>
              </a:defRPr>
            </a:lvl1pPr>
            <a:lvl2pPr marL="457200" algn="l">
              <a:spcBef>
                <a:spcPts val="0"/>
              </a:spcBef>
              <a:spcAft>
                <a:spcPts val="0"/>
              </a:spcAft>
              <a:defRPr>
                <a:solidFill>
                  <a:schemeClr val="dk1"/>
                </a:solidFill>
                <a:latin typeface="+mn-lt"/>
                <a:ea typeface="+mn-ea"/>
                <a:cs typeface="+mn-cs"/>
              </a:defRPr>
            </a:lvl2pPr>
            <a:lvl3pPr marL="914400" algn="l">
              <a:spcBef>
                <a:spcPts val="0"/>
              </a:spcBef>
              <a:spcAft>
                <a:spcPts val="0"/>
              </a:spcAft>
              <a:defRPr>
                <a:solidFill>
                  <a:schemeClr val="dk1"/>
                </a:solidFill>
                <a:latin typeface="+mn-lt"/>
                <a:ea typeface="+mn-ea"/>
                <a:cs typeface="+mn-cs"/>
              </a:defRPr>
            </a:lvl3pPr>
            <a:lvl4pPr marL="1371600" algn="l">
              <a:spcBef>
                <a:spcPts val="0"/>
              </a:spcBef>
              <a:spcAft>
                <a:spcPts val="0"/>
              </a:spcAft>
              <a:defRPr>
                <a:solidFill>
                  <a:schemeClr val="dk1"/>
                </a:solidFill>
                <a:latin typeface="+mn-lt"/>
                <a:ea typeface="+mn-ea"/>
                <a:cs typeface="+mn-cs"/>
              </a:defRPr>
            </a:lvl4pPr>
            <a:lvl5pPr marL="1828800" algn="l">
              <a:spcBef>
                <a:spcPts val="0"/>
              </a:spcBef>
              <a:spcAft>
                <a:spcPts val="0"/>
              </a:spcAft>
              <a:defRPr>
                <a:solidFill>
                  <a:schemeClr val="dk1"/>
                </a:solidFill>
                <a:latin typeface="+mn-lt"/>
                <a:ea typeface="+mn-ea"/>
                <a:cs typeface="+mn-cs"/>
              </a:defRPr>
            </a:lvl5pPr>
            <a:lvl6pPr marL="2286000" algn="l" defTabSz="914400">
              <a:defRPr>
                <a:solidFill>
                  <a:schemeClr val="dk1"/>
                </a:solidFill>
                <a:latin typeface="+mn-lt"/>
                <a:ea typeface="+mn-ea"/>
                <a:cs typeface="+mn-cs"/>
              </a:defRPr>
            </a:lvl6pPr>
            <a:lvl7pPr marL="2743200" algn="l" defTabSz="914400">
              <a:defRPr>
                <a:solidFill>
                  <a:schemeClr val="dk1"/>
                </a:solidFill>
                <a:latin typeface="+mn-lt"/>
                <a:ea typeface="+mn-ea"/>
                <a:cs typeface="+mn-cs"/>
              </a:defRPr>
            </a:lvl7pPr>
            <a:lvl8pPr marL="3200400" algn="l" defTabSz="914400">
              <a:defRPr>
                <a:solidFill>
                  <a:schemeClr val="dk1"/>
                </a:solidFill>
                <a:latin typeface="+mn-lt"/>
                <a:ea typeface="+mn-ea"/>
                <a:cs typeface="+mn-cs"/>
              </a:defRPr>
            </a:lvl8pPr>
            <a:lvl9pPr marL="3657600" algn="l" defTabSz="914400">
              <a:defRPr>
                <a:solidFill>
                  <a:schemeClr val="dk1"/>
                </a:solidFill>
                <a:latin typeface="+mn-lt"/>
                <a:ea typeface="+mn-ea"/>
                <a:cs typeface="+mn-cs"/>
              </a:defRPr>
            </a:lvl9pPr>
          </a:lstStyle>
          <a:p>
            <a:pPr algn="ctr">
              <a:spcBef>
                <a:spcPts val="0"/>
              </a:spcBef>
              <a:spcAft>
                <a:spcPts val="0"/>
              </a:spcAft>
              <a:defRPr/>
            </a:pPr>
            <a:r>
              <a:rPr lang="en-US" sz="2400" b="1" dirty="0">
                <a:solidFill>
                  <a:schemeClr val="tx1"/>
                </a:solidFill>
                <a:latin typeface="+mj-lt"/>
                <a:ea typeface="+mj-ea"/>
                <a:cs typeface="+mj-cs"/>
              </a:rPr>
              <a:t>BATCH ID :</a:t>
            </a:r>
            <a:r>
              <a:rPr lang="en-US" sz="2400" b="1" i="0" u="none" strike="noStrike" cap="none" spc="0" dirty="0">
                <a:solidFill>
                  <a:schemeClr val="tx1"/>
                </a:solidFill>
                <a:latin typeface="Calibri Light" panose="020F0302020204030204"/>
                <a:ea typeface="Calibri Light" panose="020F0302020204030204"/>
                <a:cs typeface="Calibri Light" panose="020F0302020204030204"/>
              </a:rPr>
              <a:t>22CSMPW-</a:t>
            </a:r>
            <a:r>
              <a:rPr lang="en-IN" sz="2400" b="1" dirty="0"/>
              <a:t>57</a:t>
            </a:r>
            <a:r>
              <a:rPr lang="en-US" sz="2400" b="1" dirty="0">
                <a:solidFill>
                  <a:schemeClr val="tx1"/>
                </a:solidFill>
                <a:latin typeface="Calibri Light" panose="020F0302020204030204"/>
                <a:ea typeface="Arial" panose="020B0604020202020204"/>
                <a:cs typeface="Arial" panose="020B0604020202020204"/>
              </a:rPr>
              <a:t> </a:t>
            </a:r>
            <a:endParaRPr dirty="0"/>
          </a:p>
        </p:txBody>
      </p:sp>
      <p:sp>
        <p:nvSpPr>
          <p:cNvPr id="7" name="Title 1"/>
          <p:cNvSpPr txBox="1"/>
          <p:nvPr/>
        </p:nvSpPr>
        <p:spPr bwMode="auto">
          <a:xfrm>
            <a:off x="491613" y="1769806"/>
            <a:ext cx="11080955" cy="88974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anchor="ctr">
            <a:normAutofit lnSpcReduction="10000"/>
          </a:bodyPr>
          <a:lstStyle>
            <a:defPPr>
              <a:defRPr lang="en-US"/>
            </a:defPPr>
            <a:lvl1pPr algn="l">
              <a:spcBef>
                <a:spcPts val="0"/>
              </a:spcBef>
              <a:spcAft>
                <a:spcPts val="0"/>
              </a:spcAft>
              <a:defRPr>
                <a:solidFill>
                  <a:schemeClr val="lt1"/>
                </a:solidFill>
                <a:latin typeface="+mn-lt"/>
                <a:ea typeface="+mn-ea"/>
                <a:cs typeface="+mn-cs"/>
              </a:defRPr>
            </a:lvl1pPr>
            <a:lvl2pPr marL="457200" algn="l">
              <a:spcBef>
                <a:spcPts val="0"/>
              </a:spcBef>
              <a:spcAft>
                <a:spcPts val="0"/>
              </a:spcAft>
              <a:defRPr>
                <a:solidFill>
                  <a:schemeClr val="lt1"/>
                </a:solidFill>
                <a:latin typeface="+mn-lt"/>
                <a:ea typeface="+mn-ea"/>
                <a:cs typeface="+mn-cs"/>
              </a:defRPr>
            </a:lvl2pPr>
            <a:lvl3pPr marL="914400" algn="l">
              <a:spcBef>
                <a:spcPts val="0"/>
              </a:spcBef>
              <a:spcAft>
                <a:spcPts val="0"/>
              </a:spcAft>
              <a:defRPr>
                <a:solidFill>
                  <a:schemeClr val="lt1"/>
                </a:solidFill>
                <a:latin typeface="+mn-lt"/>
                <a:ea typeface="+mn-ea"/>
                <a:cs typeface="+mn-cs"/>
              </a:defRPr>
            </a:lvl3pPr>
            <a:lvl4pPr marL="1371600" algn="l">
              <a:spcBef>
                <a:spcPts val="0"/>
              </a:spcBef>
              <a:spcAft>
                <a:spcPts val="0"/>
              </a:spcAft>
              <a:defRPr>
                <a:solidFill>
                  <a:schemeClr val="lt1"/>
                </a:solidFill>
                <a:latin typeface="+mn-lt"/>
                <a:ea typeface="+mn-ea"/>
                <a:cs typeface="+mn-cs"/>
              </a:defRPr>
            </a:lvl4pPr>
            <a:lvl5pPr marL="1828800" algn="l">
              <a:spcBef>
                <a:spcPts val="0"/>
              </a:spcBef>
              <a:spcAft>
                <a:spcPts val="0"/>
              </a:spcAft>
              <a:defRPr>
                <a:solidFill>
                  <a:schemeClr val="lt1"/>
                </a:solidFill>
                <a:latin typeface="+mn-lt"/>
                <a:ea typeface="+mn-ea"/>
                <a:cs typeface="+mn-cs"/>
              </a:defRPr>
            </a:lvl5pPr>
            <a:lvl6pPr marL="2286000" algn="l" defTabSz="914400">
              <a:defRPr>
                <a:solidFill>
                  <a:schemeClr val="lt1"/>
                </a:solidFill>
                <a:latin typeface="+mn-lt"/>
                <a:ea typeface="+mn-ea"/>
                <a:cs typeface="+mn-cs"/>
              </a:defRPr>
            </a:lvl6pPr>
            <a:lvl7pPr marL="2743200" algn="l" defTabSz="914400">
              <a:defRPr>
                <a:solidFill>
                  <a:schemeClr val="lt1"/>
                </a:solidFill>
                <a:latin typeface="+mn-lt"/>
                <a:ea typeface="+mn-ea"/>
                <a:cs typeface="+mn-cs"/>
              </a:defRPr>
            </a:lvl7pPr>
            <a:lvl8pPr marL="3200400" algn="l" defTabSz="914400">
              <a:defRPr>
                <a:solidFill>
                  <a:schemeClr val="lt1"/>
                </a:solidFill>
                <a:latin typeface="+mn-lt"/>
                <a:ea typeface="+mn-ea"/>
                <a:cs typeface="+mn-cs"/>
              </a:defRPr>
            </a:lvl8pPr>
            <a:lvl9pPr marL="3657600" algn="l" defTabSz="914400">
              <a:defRPr>
                <a:solidFill>
                  <a:schemeClr val="lt1"/>
                </a:solidFill>
                <a:latin typeface="+mn-lt"/>
                <a:ea typeface="+mn-ea"/>
                <a:cs typeface="+mn-cs"/>
              </a:defRPr>
            </a:lvl9pPr>
          </a:lstStyle>
          <a:p>
            <a:pPr algn="ctr">
              <a:spcBef>
                <a:spcPts val="0"/>
              </a:spcBef>
              <a:spcAft>
                <a:spcPts val="0"/>
              </a:spcAft>
              <a:defRPr/>
            </a:pPr>
            <a:r>
              <a:rPr lang="en-US" sz="2800" b="1" dirty="0">
                <a:solidFill>
                  <a:schemeClr val="tx1"/>
                </a:solidFill>
                <a:latin typeface="+mj-lt"/>
                <a:ea typeface="+mj-ea"/>
                <a:cs typeface="+mj-cs"/>
              </a:rPr>
              <a:t>Title: </a:t>
            </a:r>
            <a:r>
              <a:rPr lang="en-US" sz="2800" b="1" dirty="0">
                <a:latin typeface="Times New Roman" panose="02020603050405020304" pitchFamily="18" charset="0"/>
                <a:cs typeface="Times New Roman" panose="02020603050405020304" pitchFamily="18" charset="0"/>
              </a:rPr>
              <a:t>Real-Time Intrusion Detection Using Bi-Directional LSTM and GRU Networks</a:t>
            </a:r>
            <a:endParaRPr dirty="0"/>
          </a:p>
        </p:txBody>
      </p:sp>
      <p:graphicFrame>
        <p:nvGraphicFramePr>
          <p:cNvPr id="10" name="Table 9"/>
          <p:cNvGraphicFramePr>
            <a:graphicFrameLocks noGrp="1"/>
          </p:cNvGraphicFramePr>
          <p:nvPr/>
        </p:nvGraphicFramePr>
        <p:xfrm>
          <a:off x="2799876" y="3476522"/>
          <a:ext cx="6934200" cy="1584960"/>
        </p:xfrm>
        <a:graphic>
          <a:graphicData uri="http://schemas.openxmlformats.org/drawingml/2006/table">
            <a:tbl>
              <a:tblPr firstRow="1" bandRow="1">
                <a:tableStyleId>{00A15C55-8517-42AA-B614-E9B94910E393}</a:tableStyleId>
              </a:tblPr>
              <a:tblGrid>
                <a:gridCol w="780098">
                  <a:extLst>
                    <a:ext uri="{9D8B030D-6E8A-4147-A177-3AD203B41FA5}">
                      <a16:colId xmlns:a16="http://schemas.microsoft.com/office/drawing/2014/main" val="20000"/>
                    </a:ext>
                  </a:extLst>
                </a:gridCol>
                <a:gridCol w="1839489">
                  <a:extLst>
                    <a:ext uri="{9D8B030D-6E8A-4147-A177-3AD203B41FA5}">
                      <a16:colId xmlns:a16="http://schemas.microsoft.com/office/drawing/2014/main" val="20001"/>
                    </a:ext>
                  </a:extLst>
                </a:gridCol>
                <a:gridCol w="4314613">
                  <a:extLst>
                    <a:ext uri="{9D8B030D-6E8A-4147-A177-3AD203B41FA5}">
                      <a16:colId xmlns:a16="http://schemas.microsoft.com/office/drawing/2014/main" val="20002"/>
                    </a:ext>
                  </a:extLst>
                </a:gridCol>
              </a:tblGrid>
              <a:tr h="370840">
                <a:tc>
                  <a:txBody>
                    <a:bodyPr/>
                    <a:lstStyle/>
                    <a:p>
                      <a:pPr algn="ctr">
                        <a:defRPr/>
                      </a:pPr>
                      <a:r>
                        <a:rPr lang="en-US" sz="2000" b="1" dirty="0"/>
                        <a:t>S. No</a:t>
                      </a:r>
                      <a:endParaRPr dirty="0"/>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sz="2000" b="1"/>
                        <a:t>Roll. No</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lgn="ctr">
                        <a:defRPr/>
                      </a:pPr>
                      <a:r>
                        <a:rPr lang="en-US" sz="2000" b="1"/>
                        <a:t>Student Name</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0"/>
                  </a:ext>
                </a:extLst>
              </a:tr>
              <a:tr h="370840">
                <a:tc>
                  <a:txBody>
                    <a:bodyPr/>
                    <a:lstStyle/>
                    <a:p>
                      <a:pPr algn="ctr">
                        <a:defRPr/>
                      </a:pPr>
                      <a:r>
                        <a:rPr lang="en-US" sz="2000" b="1"/>
                        <a:t>1</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sz="2000" b="1" dirty="0"/>
                        <a:t>22881A66E3</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tc>
                  <a:txBody>
                    <a:bodyPr/>
                    <a:lstStyle/>
                    <a:p>
                      <a:pPr>
                        <a:defRPr/>
                      </a:pPr>
                      <a:r>
                        <a:rPr lang="en-US" sz="2000" b="1" dirty="0"/>
                        <a:t>D. Sai Charan</a:t>
                      </a:r>
                    </a:p>
                  </a:txBody>
                  <a:tcPr>
                    <a:lnL w="12700" algn="ctr">
                      <a:solidFill>
                        <a:schemeClr val="tx1"/>
                      </a:solidFill>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1"/>
                  </a:ext>
                </a:extLst>
              </a:tr>
              <a:tr h="370840">
                <a:tc>
                  <a:txBody>
                    <a:bodyPr/>
                    <a:lstStyle/>
                    <a:p>
                      <a:pPr algn="ctr">
                        <a:defRPr/>
                      </a:pPr>
                      <a:r>
                        <a:rPr lang="en-US" sz="2000" b="1"/>
                        <a:t>2</a:t>
                      </a:r>
                    </a:p>
                  </a:txBody>
                  <a:tcPr>
                    <a:lnL w="12700" algn="ctr">
                      <a:solidFill>
                        <a:schemeClr val="tx1"/>
                      </a:solidFill>
                    </a:lnL>
                    <a:lnR w="12700" algn="ctr">
                      <a:solidFill>
                        <a:schemeClr val="tx1"/>
                      </a:solidFill>
                    </a:lnR>
                    <a:lnT w="12700" algn="ctr">
                      <a:solidFill>
                        <a:schemeClr val="tx1"/>
                      </a:solidFill>
                    </a:lnT>
                    <a:lnB w="12700" cap="flat" cmpd="sng" algn="ctr">
                      <a:solidFill>
                        <a:schemeClr val="tx1"/>
                      </a:solidFill>
                      <a:prstDash val="solid"/>
                      <a:round/>
                      <a:headEnd type="none" w="med" len="med"/>
                      <a:tailEnd type="none" w="med" len="med"/>
                    </a:lnB>
                  </a:tcPr>
                </a:tc>
                <a:tc>
                  <a:txBody>
                    <a:bodyPr/>
                    <a:lstStyle/>
                    <a:p>
                      <a:pPr>
                        <a:defRPr/>
                      </a:pPr>
                      <a:r>
                        <a:rPr lang="en-US" sz="2000" b="1" dirty="0"/>
                        <a:t>22881A66E6</a:t>
                      </a:r>
                    </a:p>
                  </a:txBody>
                  <a:tcPr>
                    <a:lnL w="12700" algn="ctr">
                      <a:solidFill>
                        <a:schemeClr val="tx1"/>
                      </a:solidFill>
                    </a:lnL>
                    <a:lnR w="12700" algn="ctr">
                      <a:solidFill>
                        <a:schemeClr val="tx1"/>
                      </a:solidFill>
                    </a:lnR>
                    <a:lnT w="12700" algn="ctr">
                      <a:solidFill>
                        <a:schemeClr val="tx1"/>
                      </a:solidFill>
                    </a:lnT>
                    <a:lnB w="12700" cap="flat" cmpd="sng" algn="ctr">
                      <a:solidFill>
                        <a:schemeClr val="tx1"/>
                      </a:solidFill>
                      <a:prstDash val="solid"/>
                      <a:round/>
                      <a:headEnd type="none" w="med" len="med"/>
                      <a:tailEnd type="none" w="med" len="med"/>
                    </a:lnB>
                  </a:tcPr>
                </a:tc>
                <a:tc>
                  <a:txBody>
                    <a:bodyPr/>
                    <a:lstStyle/>
                    <a:p>
                      <a:pPr>
                        <a:defRPr/>
                      </a:pPr>
                      <a:r>
                        <a:rPr lang="en-US" sz="2000" b="1" dirty="0"/>
                        <a:t>G. Praneeth</a:t>
                      </a:r>
                    </a:p>
                  </a:txBody>
                  <a:tcPr>
                    <a:lnL w="12700" algn="ctr">
                      <a:solidFill>
                        <a:schemeClr val="tx1"/>
                      </a:solidFill>
                    </a:lnL>
                    <a:lnR w="12700" algn="ctr">
                      <a:solidFill>
                        <a:schemeClr val="tx1"/>
                      </a:solidFill>
                    </a:lnR>
                    <a:lnT w="12700" algn="ctr">
                      <a:solidFill>
                        <a:schemeClr val="tx1"/>
                      </a:solid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defRPr/>
                      </a:pPr>
                      <a:r>
                        <a:rPr lang="en-IN" b="1" dirty="0"/>
                        <a:t>3</a:t>
                      </a:r>
                      <a:endParaRPr b="1" dirty="0"/>
                    </a:p>
                  </a:txBody>
                  <a:tcPr>
                    <a:lnL w="12700" algn="ctr">
                      <a:solidFill>
                        <a:schemeClr val="tx1"/>
                      </a:solidFill>
                    </a:lnL>
                    <a:lnR w="12700" cap="flat" cmpd="sng" algn="ctr">
                      <a:solidFill>
                        <a:schemeClr val="tx1"/>
                      </a:solidFill>
                      <a:prstDash val="solid"/>
                      <a:round/>
                      <a:headEnd type="none" w="med" len="med"/>
                      <a:tailEnd type="none" w="med" len="med"/>
                    </a:lnR>
                    <a:lnT w="12700" algn="ctr">
                      <a:solidFill>
                        <a:schemeClr val="tx1"/>
                      </a:solidFill>
                    </a:lnT>
                    <a:lnB w="12700" algn="ctr">
                      <a:solidFill>
                        <a:schemeClr val="tx1"/>
                      </a:solidFill>
                    </a:lnB>
                  </a:tcPr>
                </a:tc>
                <a:tc>
                  <a:txBody>
                    <a:bodyPr/>
                    <a:lstStyle/>
                    <a:p>
                      <a:pPr>
                        <a:defRP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22881A66H0</a:t>
                      </a:r>
                      <a:endParaRPr 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algn="ctr">
                      <a:solidFill>
                        <a:schemeClr val="tx1"/>
                      </a:solidFill>
                    </a:lnT>
                    <a:lnB w="12700" algn="ctr">
                      <a:solidFill>
                        <a:schemeClr val="tx1"/>
                      </a:solidFill>
                    </a:lnB>
                  </a:tcPr>
                </a:tc>
                <a:tc>
                  <a:txBody>
                    <a:bodyPr/>
                    <a:lstStyle/>
                    <a:p>
                      <a:pPr>
                        <a:defRPr/>
                      </a:pPr>
                      <a:r>
                        <a:rPr lang="en-IN" sz="2000" b="1" dirty="0"/>
                        <a:t>P. </a:t>
                      </a:r>
                      <a:r>
                        <a:rPr lang="en-IN" sz="2000" b="1" dirty="0" err="1"/>
                        <a:t>ArshadKhan</a:t>
                      </a:r>
                      <a:endParaRPr lang="en-US" sz="2000" b="1" dirty="0"/>
                    </a:p>
                  </a:txBody>
                  <a:tcPr>
                    <a:lnL w="12700" cap="flat" cmpd="sng" algn="ctr">
                      <a:solidFill>
                        <a:schemeClr val="tx1"/>
                      </a:solidFill>
                      <a:prstDash val="solid"/>
                      <a:round/>
                      <a:headEnd type="none" w="med" len="med"/>
                      <a:tailEnd type="none" w="med" len="med"/>
                    </a:lnL>
                    <a:lnR w="12700" algn="ctr">
                      <a:solidFill>
                        <a:schemeClr val="tx1"/>
                      </a:solidFill>
                    </a:lnR>
                    <a:lnT w="12700" algn="ctr">
                      <a:solidFill>
                        <a:schemeClr val="tx1"/>
                      </a:solidFill>
                    </a:lnT>
                    <a:lnB w="12700" algn="ctr">
                      <a:solidFill>
                        <a:schemeClr val="tx1"/>
                      </a:solidFill>
                    </a:lnB>
                  </a:tcPr>
                </a:tc>
                <a:extLst>
                  <a:ext uri="{0D108BD9-81ED-4DB2-BD59-A6C34878D82A}">
                    <a16:rowId xmlns:a16="http://schemas.microsoft.com/office/drawing/2014/main" val="10003"/>
                  </a:ext>
                </a:extLst>
              </a:tr>
            </a:tbl>
          </a:graphicData>
        </a:graphic>
      </p:graphicFrame>
      <p:sp>
        <p:nvSpPr>
          <p:cNvPr id="11" name="TextBox 10"/>
          <p:cNvSpPr txBox="1"/>
          <p:nvPr/>
        </p:nvSpPr>
        <p:spPr>
          <a:xfrm>
            <a:off x="816142" y="200146"/>
            <a:ext cx="10635916" cy="1569660"/>
          </a:xfrm>
          <a:prstGeom prst="rect">
            <a:avLst/>
          </a:prstGeom>
          <a:noFill/>
        </p:spPr>
        <p:txBody>
          <a:bodyPr wrap="square" rtlCol="0">
            <a:spAutoFit/>
          </a:bodyPr>
          <a:lstStyle/>
          <a:p>
            <a:pPr algn="ctr"/>
            <a:r>
              <a:rPr lang="en-US" sz="2400" b="1" dirty="0">
                <a:solidFill>
                  <a:srgbClr val="C00000"/>
                </a:solidFill>
                <a:latin typeface="Bahamas"/>
              </a:rPr>
              <a:t>VARDHAMAN COLLEGE OF ENGINEERING, HYDERABAD</a:t>
            </a:r>
            <a:br>
              <a:rPr lang="en-US" sz="2400" b="1" dirty="0">
                <a:latin typeface="Bahamas"/>
              </a:rPr>
            </a:br>
            <a:r>
              <a:rPr lang="en-US" sz="2400" b="1" dirty="0"/>
              <a:t>Autonomous institute affiliated to JNTUH </a:t>
            </a:r>
            <a:br>
              <a:rPr lang="en-US" sz="2400" dirty="0"/>
            </a:br>
            <a:r>
              <a:rPr lang="en-US" sz="2400" b="1" dirty="0">
                <a:solidFill>
                  <a:srgbClr val="FF0000"/>
                </a:solidFill>
              </a:rPr>
              <a:t>DEPARTMENT OF CSE(AI&amp;ML)</a:t>
            </a:r>
            <a:br>
              <a:rPr lang="en-US" sz="2400" b="1" dirty="0">
                <a:solidFill>
                  <a:srgbClr val="FF0000"/>
                </a:solidFill>
              </a:rPr>
            </a:br>
            <a:r>
              <a:rPr lang="et-EE" sz="2400" b="1" dirty="0">
                <a:solidFill>
                  <a:srgbClr val="FF0000"/>
                </a:solidFill>
              </a:rPr>
              <a:t>Mini Project (A8041)</a:t>
            </a:r>
            <a:endParaRPr lang="en-IN" sz="2400" dirty="0"/>
          </a:p>
        </p:txBody>
      </p:sp>
      <p:pic>
        <p:nvPicPr>
          <p:cNvPr id="13" name="Picture 12"/>
          <p:cNvPicPr>
            <a:picLocks noChangeAspect="1"/>
          </p:cNvPicPr>
          <p:nvPr/>
        </p:nvPicPr>
        <p:blipFill>
          <a:blip r:embed="rId2"/>
          <a:stretch>
            <a:fillRect/>
          </a:stretch>
        </p:blipFill>
        <p:spPr>
          <a:xfrm>
            <a:off x="9588077" y="216187"/>
            <a:ext cx="2080355" cy="14158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FB89F-F864-2B1B-3596-1B44F7275175}"/>
              </a:ext>
            </a:extLst>
          </p:cNvPr>
          <p:cNvSpPr>
            <a:spLocks noGrp="1"/>
          </p:cNvSpPr>
          <p:nvPr>
            <p:ph type="title"/>
          </p:nvPr>
        </p:nvSpPr>
        <p:spPr>
          <a:xfrm>
            <a:off x="838200" y="365125"/>
            <a:ext cx="6093542" cy="1325563"/>
          </a:xfrm>
        </p:spPr>
        <p:txBody>
          <a:bodyPr/>
          <a:lstStyle/>
          <a:p>
            <a:r>
              <a:rPr lang="en-US" sz="4400" b="1" dirty="0">
                <a:solidFill>
                  <a:schemeClr val="tx1"/>
                </a:solidFill>
                <a:latin typeface="Kalinga" panose="020B0502040204020203" pitchFamily="34" charset="0"/>
                <a:ea typeface="Cambria"/>
                <a:cs typeface="Kalinga" panose="020B0502040204020203" pitchFamily="34" charset="0"/>
              </a:rPr>
              <a:t>Outlines</a:t>
            </a:r>
            <a:endParaRPr lang="en-IN" dirty="0"/>
          </a:p>
        </p:txBody>
      </p:sp>
      <p:sp>
        <p:nvSpPr>
          <p:cNvPr id="3" name="Content Placeholder 2">
            <a:extLst>
              <a:ext uri="{FF2B5EF4-FFF2-40B4-BE49-F238E27FC236}">
                <a16:creationId xmlns:a16="http://schemas.microsoft.com/office/drawing/2014/main" id="{5BBF5A11-E83B-B1A4-EAF8-5B2EEB370152}"/>
              </a:ext>
            </a:extLst>
          </p:cNvPr>
          <p:cNvSpPr>
            <a:spLocks noGrp="1"/>
          </p:cNvSpPr>
          <p:nvPr>
            <p:ph idx="1"/>
          </p:nvPr>
        </p:nvSpPr>
        <p:spPr>
          <a:xfrm>
            <a:off x="838200" y="1494503"/>
            <a:ext cx="10515600" cy="5171768"/>
          </a:xfrm>
        </p:spPr>
        <p:txBody>
          <a:bodyPr>
            <a:normAutofit fontScale="77500" lnSpcReduction="20000"/>
          </a:bodyPr>
          <a:lstStyle/>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Abstract</a:t>
            </a:r>
            <a:endParaRPr lang="en-US" dirty="0">
              <a:latin typeface="Kalinga" panose="020B0502040204020203" pitchFamily="34" charset="0"/>
              <a:cs typeface="Kalinga" panose="020B0502040204020203" pitchFamily="34" charset="0"/>
            </a:endParaRP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Introduction</a:t>
            </a:r>
            <a:endParaRPr lang="en-US" dirty="0">
              <a:latin typeface="Kalinga" panose="020B0502040204020203" pitchFamily="34" charset="0"/>
              <a:cs typeface="Kalinga" panose="020B0502040204020203" pitchFamily="34" charset="0"/>
            </a:endParaRP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Existing System</a:t>
            </a:r>
          </a:p>
          <a:p>
            <a:pPr>
              <a:lnSpc>
                <a:spcPct val="110000"/>
              </a:lnSpc>
              <a:spcBef>
                <a:spcPts val="1199"/>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Existing System Pros and Cons</a:t>
            </a:r>
            <a:endParaRPr lang="en-US" dirty="0">
              <a:latin typeface="Kalinga" panose="020B0502040204020203" pitchFamily="34" charset="0"/>
              <a:cs typeface="Kalinga" panose="020B0502040204020203" pitchFamily="34" charset="0"/>
            </a:endParaRP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Proposed Model</a:t>
            </a:r>
            <a:endParaRPr lang="en-US" dirty="0">
              <a:latin typeface="Kalinga" panose="020B0502040204020203" pitchFamily="34" charset="0"/>
              <a:cs typeface="Kalinga" panose="020B0502040204020203" pitchFamily="34" charset="0"/>
            </a:endParaRP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Specifications of dataset</a:t>
            </a: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Proposed Model Results</a:t>
            </a:r>
          </a:p>
          <a:p>
            <a:pPr>
              <a:lnSpc>
                <a:spcPct val="110000"/>
              </a:lnSpc>
              <a:spcBef>
                <a:spcPts val="1200"/>
              </a:spcBef>
              <a:spcAft>
                <a:spcPts val="0"/>
              </a:spcAft>
              <a:defRPr/>
            </a:pPr>
            <a:r>
              <a:rPr lang="en-US" sz="2800" b="1" dirty="0" err="1">
                <a:solidFill>
                  <a:schemeClr val="accent2">
                    <a:lumMod val="75000"/>
                  </a:schemeClr>
                </a:solidFill>
                <a:latin typeface="Kalinga" panose="020B0502040204020203" pitchFamily="34" charset="0"/>
                <a:ea typeface="Cambria"/>
                <a:cs typeface="Kalinga" panose="020B0502040204020203" pitchFamily="34" charset="0"/>
              </a:rPr>
              <a:t>Comparision</a:t>
            </a:r>
            <a:r>
              <a:rPr lang="en-US" sz="2800" b="1" dirty="0">
                <a:solidFill>
                  <a:schemeClr val="accent2">
                    <a:lumMod val="75000"/>
                  </a:schemeClr>
                </a:solidFill>
                <a:latin typeface="Kalinga" panose="020B0502040204020203" pitchFamily="34" charset="0"/>
                <a:ea typeface="Cambria"/>
                <a:cs typeface="Kalinga" panose="020B0502040204020203" pitchFamily="34" charset="0"/>
              </a:rPr>
              <a:t> between existing model and proposed model</a:t>
            </a: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Sustainability development goals</a:t>
            </a: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Conclusion </a:t>
            </a:r>
          </a:p>
          <a:p>
            <a:pPr>
              <a:lnSpc>
                <a:spcPct val="110000"/>
              </a:lnSpc>
              <a:spcBef>
                <a:spcPts val="1200"/>
              </a:spcBef>
              <a:spcAft>
                <a:spcPts val="0"/>
              </a:spcAft>
              <a:defRPr/>
            </a:pPr>
            <a:r>
              <a:rPr lang="en-US" sz="2800" b="1" dirty="0">
                <a:solidFill>
                  <a:schemeClr val="accent2">
                    <a:lumMod val="75000"/>
                  </a:schemeClr>
                </a:solidFill>
                <a:latin typeface="Kalinga" panose="020B0502040204020203" pitchFamily="34" charset="0"/>
                <a:ea typeface="Cambria"/>
                <a:cs typeface="Kalinga" panose="020B0502040204020203" pitchFamily="34" charset="0"/>
              </a:rPr>
              <a:t>Future Directions</a:t>
            </a:r>
            <a:endParaRPr lang="en-US" sz="2800" dirty="0">
              <a:solidFill>
                <a:schemeClr val="accent2">
                  <a:lumMod val="75000"/>
                </a:schemeClr>
              </a:solidFill>
              <a:latin typeface="Kalinga" panose="020B0502040204020203" pitchFamily="34" charset="0"/>
              <a:ea typeface="Cambria"/>
              <a:cs typeface="Kalinga" panose="020B0502040204020203" pitchFamily="34" charset="0"/>
            </a:endParaRPr>
          </a:p>
          <a:p>
            <a:endParaRPr lang="en-IN" dirty="0"/>
          </a:p>
        </p:txBody>
      </p:sp>
      <p:pic>
        <p:nvPicPr>
          <p:cNvPr id="4" name="Picture 3">
            <a:extLst>
              <a:ext uri="{FF2B5EF4-FFF2-40B4-BE49-F238E27FC236}">
                <a16:creationId xmlns:a16="http://schemas.microsoft.com/office/drawing/2014/main" id="{A1B05874-B30E-7BFF-B563-BE77E838A31D}"/>
              </a:ext>
            </a:extLst>
          </p:cNvPr>
          <p:cNvPicPr>
            <a:picLocks noChangeAspect="1"/>
          </p:cNvPicPr>
          <p:nvPr/>
        </p:nvPicPr>
        <p:blipFill>
          <a:blip r:embed="rId2"/>
          <a:stretch>
            <a:fillRect/>
          </a:stretch>
        </p:blipFill>
        <p:spPr>
          <a:xfrm>
            <a:off x="10016490" y="316865"/>
            <a:ext cx="1402080" cy="954405"/>
          </a:xfrm>
          <a:prstGeom prst="rect">
            <a:avLst/>
          </a:prstGeom>
        </p:spPr>
      </p:pic>
    </p:spTree>
    <p:extLst>
      <p:ext uri="{BB962C8B-B14F-4D97-AF65-F5344CB8AC3E}">
        <p14:creationId xmlns:p14="http://schemas.microsoft.com/office/powerpoint/2010/main" val="3666016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3195"/>
            <a:ext cx="9092565" cy="1242060"/>
          </a:xfrm>
          <a:ln>
            <a:solidFill>
              <a:schemeClr val="tx1"/>
            </a:solidFill>
          </a:ln>
        </p:spPr>
        <p:txBody>
          <a:bodyPr>
            <a:normAutofit/>
          </a:bodyPr>
          <a:lstStyle/>
          <a:p>
            <a:r>
              <a:rPr lang="en-IN" sz="4000" b="1"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838200" y="1612265"/>
            <a:ext cx="10939780" cy="5147945"/>
          </a:xfrm>
          <a:ln>
            <a:solidFill>
              <a:schemeClr val="tx1"/>
            </a:solidFill>
          </a:ln>
        </p:spPr>
        <p:txBody>
          <a:bodyPr>
            <a:noAutofit/>
          </a:bodyPr>
          <a:lstStyle/>
          <a:p>
            <a:pPr algn="just">
              <a:lnSpc>
                <a:spcPct val="170000"/>
              </a:lnSpc>
            </a:pPr>
            <a:r>
              <a:rPr lang="en-US" sz="1800" dirty="0">
                <a:latin typeface="Kalinga" panose="020B0502040204020203" pitchFamily="34" charset="0"/>
                <a:cs typeface="Kalinga" panose="020B0502040204020203" pitchFamily="34" charset="0"/>
              </a:rPr>
              <a:t>In recent years, the surge in Distributed Denial of Service (DDoS) attacks has posed significant challenges to network security and reliability. Traditional machine learning models often fall short in detecting evolving and complex attack patterns due to their static nature and limited contextual learning. To address these limitations, this project proposes a hybrid deep learning model that combines Bidirectional Long Short-Term Memory (Bi-LSTM) and Gated Recurrent Unit (GRU) layers for real-time anomaly detection in network traffic. The Bi-LSTM layer captures both forward and backward temporal dependencies, enhancing context awareness, while the GRU layer improves computational efficiency. Preprocessing techniques such as normalization, sequence formatting, and feature selection are applied to prepare the data. This work demonstrates the potential of hybrid recurrent architectures in creating scalable and adaptive cybersecurity solutions.</a:t>
            </a:r>
            <a:endParaRPr lang="en-IN" sz="1800" dirty="0">
              <a:latin typeface="Kalinga" panose="020B0502040204020203" pitchFamily="34" charset="0"/>
              <a:cs typeface="Kalinga" panose="020B0502040204020203" pitchFamily="34" charset="0"/>
            </a:endParaRPr>
          </a:p>
        </p:txBody>
      </p:sp>
      <p:pic>
        <p:nvPicPr>
          <p:cNvPr id="4" name="Picture 3"/>
          <p:cNvPicPr>
            <a:picLocks noChangeAspect="1"/>
          </p:cNvPicPr>
          <p:nvPr/>
        </p:nvPicPr>
        <p:blipFill>
          <a:blip r:embed="rId2"/>
          <a:stretch>
            <a:fillRect/>
          </a:stretch>
        </p:blipFill>
        <p:spPr>
          <a:xfrm>
            <a:off x="10016490" y="316865"/>
            <a:ext cx="1402080" cy="9544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355" y="197167"/>
            <a:ext cx="10515600" cy="1009651"/>
          </a:xfrm>
          <a:ln>
            <a:solidFill>
              <a:schemeClr val="tx1"/>
            </a:solidFill>
          </a:ln>
        </p:spPr>
        <p:txBody>
          <a:bodyPr>
            <a:normAutofit fontScale="90000"/>
          </a:bodyPr>
          <a:lstStyle/>
          <a:p>
            <a:r>
              <a:rPr lang="en-US" sz="4000" b="1" dirty="0">
                <a:latin typeface="Kalinga" panose="020B0502040204020203" pitchFamily="34" charset="0"/>
                <a:cs typeface="Kalinga" panose="020B0502040204020203" pitchFamily="34" charset="0"/>
              </a:rPr>
              <a:t>Introduction</a:t>
            </a:r>
            <a:br>
              <a:rPr lang="en-US" b="1" dirty="0"/>
            </a:br>
            <a:endParaRPr lang="en-IN" dirty="0"/>
          </a:p>
        </p:txBody>
      </p:sp>
      <p:sp>
        <p:nvSpPr>
          <p:cNvPr id="3" name="Content Placeholder 2"/>
          <p:cNvSpPr>
            <a:spLocks noGrp="1"/>
          </p:cNvSpPr>
          <p:nvPr>
            <p:ph idx="1"/>
          </p:nvPr>
        </p:nvSpPr>
        <p:spPr>
          <a:xfrm>
            <a:off x="173355" y="1334135"/>
            <a:ext cx="11864340" cy="4954270"/>
          </a:xfrm>
          <a:ln>
            <a:solidFill>
              <a:schemeClr val="tx1"/>
            </a:solidFill>
          </a:ln>
        </p:spPr>
        <p:txBody>
          <a:bodyPr>
            <a:normAutofit/>
          </a:bodyPr>
          <a:lstStyle/>
          <a:p>
            <a:pPr algn="just">
              <a:buFont typeface="Arial" panose="020B0604020202020204" pitchFamily="34" charset="0"/>
              <a:buChar char="•"/>
            </a:pPr>
            <a:r>
              <a:rPr lang="en-US" b="1" dirty="0">
                <a:latin typeface="Kalinga" panose="020B0502040204020203" pitchFamily="34" charset="0"/>
                <a:cs typeface="Kalinga" panose="020B0502040204020203" pitchFamily="34" charset="0"/>
              </a:rPr>
              <a:t>Cybersecurity threats</a:t>
            </a:r>
            <a:r>
              <a:rPr lang="en-US" dirty="0">
                <a:latin typeface="Kalinga" panose="020B0502040204020203" pitchFamily="34" charset="0"/>
                <a:cs typeface="Kalinga" panose="020B0502040204020203" pitchFamily="34" charset="0"/>
              </a:rPr>
              <a:t>, especially Distributed Denial of Service (DDoS) attacks, are increasing in frequency and sophistication.</a:t>
            </a:r>
          </a:p>
          <a:p>
            <a:pPr algn="just">
              <a:buFont typeface="Arial" panose="020B0604020202020204" pitchFamily="34" charset="0"/>
              <a:buChar char="•"/>
            </a:pPr>
            <a:r>
              <a:rPr lang="en-US" dirty="0">
                <a:latin typeface="Kalinga" panose="020B0502040204020203" pitchFamily="34" charset="0"/>
                <a:cs typeface="Kalinga" panose="020B0502040204020203" pitchFamily="34" charset="0"/>
              </a:rPr>
              <a:t>Traditional machine learning models </a:t>
            </a:r>
            <a:r>
              <a:rPr lang="en-US" b="1" dirty="0">
                <a:latin typeface="Kalinga" panose="020B0502040204020203" pitchFamily="34" charset="0"/>
                <a:cs typeface="Kalinga" panose="020B0502040204020203" pitchFamily="34" charset="0"/>
              </a:rPr>
              <a:t>struggle with real-time detection</a:t>
            </a:r>
            <a:r>
              <a:rPr lang="en-US" dirty="0">
                <a:latin typeface="Kalinga" panose="020B0502040204020203" pitchFamily="34" charset="0"/>
                <a:cs typeface="Kalinga" panose="020B0502040204020203" pitchFamily="34" charset="0"/>
              </a:rPr>
              <a:t> and often fail against </a:t>
            </a:r>
            <a:r>
              <a:rPr lang="en-US" b="1" dirty="0">
                <a:latin typeface="Kalinga" panose="020B0502040204020203" pitchFamily="34" charset="0"/>
                <a:cs typeface="Kalinga" panose="020B0502040204020203" pitchFamily="34" charset="0"/>
              </a:rPr>
              <a:t>new or evolving attack patterns</a:t>
            </a:r>
            <a:r>
              <a:rPr lang="en-US" dirty="0">
                <a:latin typeface="Kalinga" panose="020B0502040204020203" pitchFamily="34" charset="0"/>
                <a:cs typeface="Kalinga" panose="020B0502040204020203" pitchFamily="34" charset="0"/>
              </a:rPr>
              <a:t>.</a:t>
            </a:r>
          </a:p>
          <a:p>
            <a:pPr algn="just">
              <a:buFont typeface="Arial" panose="020B0604020202020204" pitchFamily="34" charset="0"/>
              <a:buChar char="•"/>
            </a:pPr>
            <a:r>
              <a:rPr lang="en-US" dirty="0">
                <a:latin typeface="Kalinga" panose="020B0502040204020203" pitchFamily="34" charset="0"/>
                <a:cs typeface="Kalinga" panose="020B0502040204020203" pitchFamily="34" charset="0"/>
              </a:rPr>
              <a:t>Deep learning models, particularly those capable of handling </a:t>
            </a:r>
            <a:r>
              <a:rPr lang="en-US" b="1" dirty="0">
                <a:latin typeface="Kalinga" panose="020B0502040204020203" pitchFamily="34" charset="0"/>
                <a:cs typeface="Kalinga" panose="020B0502040204020203" pitchFamily="34" charset="0"/>
              </a:rPr>
              <a:t>sequential data</a:t>
            </a:r>
            <a:r>
              <a:rPr lang="en-US" dirty="0">
                <a:latin typeface="Kalinga" panose="020B0502040204020203" pitchFamily="34" charset="0"/>
                <a:cs typeface="Kalinga" panose="020B0502040204020203" pitchFamily="34" charset="0"/>
              </a:rPr>
              <a:t>, offer better insights into traffic behavior over time.</a:t>
            </a:r>
          </a:p>
          <a:p>
            <a:endParaRPr lang="en-IN" dirty="0"/>
          </a:p>
        </p:txBody>
      </p:sp>
      <p:pic>
        <p:nvPicPr>
          <p:cNvPr id="5" name="Picture 4"/>
          <p:cNvPicPr>
            <a:picLocks noChangeAspect="1"/>
          </p:cNvPicPr>
          <p:nvPr/>
        </p:nvPicPr>
        <p:blipFill>
          <a:blip r:embed="rId2"/>
          <a:stretch>
            <a:fillRect/>
          </a:stretch>
        </p:blipFill>
        <p:spPr>
          <a:xfrm>
            <a:off x="10752455" y="196850"/>
            <a:ext cx="1285240" cy="875030"/>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77547" y="3909593"/>
            <a:ext cx="3821801" cy="223556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3035"/>
            <a:ext cx="9794875" cy="1028700"/>
          </a:xfrm>
          <a:ln>
            <a:solidFill>
              <a:schemeClr val="tx1"/>
            </a:solidFill>
          </a:ln>
        </p:spPr>
        <p:txBody>
          <a:bodyPr>
            <a:normAutofit/>
          </a:bodyPr>
          <a:lstStyle/>
          <a:p>
            <a:r>
              <a:rPr lang="en-IN" sz="4000" b="1" dirty="0">
                <a:latin typeface="Kalinga" panose="020B0502040204020203" pitchFamily="34" charset="0"/>
                <a:cs typeface="Kalinga" panose="020B0502040204020203" pitchFamily="34" charset="0"/>
              </a:rPr>
              <a:t>Existing System</a:t>
            </a:r>
          </a:p>
        </p:txBody>
      </p:sp>
      <p:sp>
        <p:nvSpPr>
          <p:cNvPr id="4" name="Rectangle 1"/>
          <p:cNvSpPr>
            <a:spLocks noGrp="1" noChangeArrowheads="1"/>
          </p:cNvSpPr>
          <p:nvPr>
            <p:ph idx="1"/>
          </p:nvPr>
        </p:nvSpPr>
        <p:spPr bwMode="auto">
          <a:xfrm>
            <a:off x="838200" y="1372235"/>
            <a:ext cx="11218545" cy="5411470"/>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Commonly Used Methods</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Machine Learning</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Support Vector Machines (SVM), Random Forest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Deep Learning</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Convolutional Neural Networks (CNN), Long Short-Term Memory (LSTM), Gated Recurrent Unit (GRU)</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Popular Datasets</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CICIDS2017,CICDDoS2019</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Limitations</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Inability to adapt to </a:t>
            </a: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evolving or unknown attack types</a:t>
            </a:r>
            <a:endPar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High false positive rates</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in dynamic environments</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Poor scalability for </a:t>
            </a: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real-time large-scale deployments</a:t>
            </a:r>
            <a:endPar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10723880" y="365125"/>
            <a:ext cx="1332865" cy="907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3565" y="0"/>
            <a:ext cx="9773285" cy="1325880"/>
          </a:xfrm>
          <a:ln>
            <a:solidFill>
              <a:schemeClr val="tx1"/>
            </a:solidFill>
          </a:ln>
        </p:spPr>
        <p:txBody>
          <a:bodyPr>
            <a:normAutofit/>
          </a:bodyPr>
          <a:lstStyle/>
          <a:p>
            <a:r>
              <a:rPr lang="en-US" sz="4000" b="1" dirty="0">
                <a:latin typeface="Times New Roman" panose="02020603050405020304" pitchFamily="18" charset="0"/>
                <a:cs typeface="Times New Roman" panose="02020603050405020304" pitchFamily="18" charset="0"/>
              </a:rPr>
              <a:t>Pros and Cons of Existing Systems</a:t>
            </a:r>
            <a:endParaRPr lang="en-IN"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0462260" y="196850"/>
            <a:ext cx="1305560" cy="889000"/>
          </a:xfrm>
          <a:prstGeom prst="rect">
            <a:avLst/>
          </a:prstGeom>
        </p:spPr>
      </p:pic>
      <p:pic>
        <p:nvPicPr>
          <p:cNvPr id="5" name="Content Placeholder 19"/>
          <p:cNvPicPr>
            <a:picLocks noChangeAspect="1"/>
          </p:cNvPicPr>
          <p:nvPr/>
        </p:nvPicPr>
        <p:blipFill>
          <a:blip r:embed="rId3"/>
          <a:stretch>
            <a:fillRect/>
          </a:stretch>
        </p:blipFill>
        <p:spPr>
          <a:xfrm>
            <a:off x="706352" y="1859168"/>
            <a:ext cx="10515601" cy="4523132"/>
          </a:xfrm>
          <a:prstGeom prst="rect">
            <a:avLst/>
          </a:prstGeom>
          <a:ln>
            <a:solidFill>
              <a:schemeClr val="tx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0565" y="0"/>
            <a:ext cx="9230995" cy="1325880"/>
          </a:xfrm>
          <a:ln>
            <a:solidFill>
              <a:schemeClr val="tx1"/>
            </a:solidFill>
          </a:ln>
        </p:spPr>
        <p:txBody>
          <a:bodyPr>
            <a:normAutofit/>
          </a:bodyPr>
          <a:lstStyle/>
          <a:p>
            <a:r>
              <a:rPr lang="en-IN" sz="4000" b="1" dirty="0">
                <a:latin typeface="Kalinga" panose="020B0502040204020203" pitchFamily="34" charset="0"/>
                <a:cs typeface="Kalinga" panose="020B0502040204020203" pitchFamily="34" charset="0"/>
              </a:rPr>
              <a:t>Proposed Model</a:t>
            </a:r>
          </a:p>
        </p:txBody>
      </p:sp>
      <p:sp>
        <p:nvSpPr>
          <p:cNvPr id="4" name="Rectangle 1"/>
          <p:cNvSpPr>
            <a:spLocks noGrp="1" noChangeArrowheads="1"/>
          </p:cNvSpPr>
          <p:nvPr>
            <p:ph idx="1"/>
          </p:nvPr>
        </p:nvSpPr>
        <p:spPr bwMode="auto">
          <a:xfrm>
            <a:off x="710382" y="1201809"/>
            <a:ext cx="4903838" cy="5539978"/>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Architecture</a:t>
            </a:r>
            <a:r>
              <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Input → Bi-LSTM → GRU → Dense → </a:t>
            </a:r>
            <a:r>
              <a:rPr kumimoji="0" lang="en-US" altLang="en-US" b="0" i="0" u="none" strike="noStrike" cap="none" normalizeH="0" baseline="0" dirty="0" err="1">
                <a:ln>
                  <a:noFill/>
                </a:ln>
                <a:solidFill>
                  <a:schemeClr val="tx1"/>
                </a:solidFill>
                <a:effectLst/>
                <a:latin typeface="Kalinga" panose="020B0502040204020203" pitchFamily="34" charset="0"/>
                <a:cs typeface="Kalinga" panose="020B0502040204020203" pitchFamily="34" charset="0"/>
              </a:rPr>
              <a:t>Softmax</a:t>
            </a:r>
            <a:endPar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Why hybrid?</a:t>
            </a:r>
            <a:endPar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Bi-LSTM → forward &amp; backward learning</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GRU → lighter, faster training</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10249535" y="196850"/>
            <a:ext cx="1402080" cy="954405"/>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47715" y="1629410"/>
            <a:ext cx="6236970" cy="48996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80670"/>
            <a:ext cx="9539605" cy="944245"/>
          </a:xfrm>
          <a:ln>
            <a:solidFill>
              <a:schemeClr val="tx1"/>
            </a:solidFill>
          </a:ln>
        </p:spPr>
        <p:txBody>
          <a:bodyPr>
            <a:normAutofit/>
          </a:bodyPr>
          <a:lstStyle/>
          <a:p>
            <a:r>
              <a:rPr lang="en-IN" sz="4000" b="1" dirty="0">
                <a:latin typeface="Kalinga" panose="020B0502040204020203" pitchFamily="34" charset="0"/>
                <a:cs typeface="Kalinga" panose="020B0502040204020203" pitchFamily="34" charset="0"/>
              </a:rPr>
              <a:t>Dataset Specifications</a:t>
            </a:r>
          </a:p>
        </p:txBody>
      </p:sp>
      <p:pic>
        <p:nvPicPr>
          <p:cNvPr id="5" name="Content Placeholder 4"/>
          <p:cNvPicPr>
            <a:picLocks noGrp="1" noChangeAspect="1"/>
          </p:cNvPicPr>
          <p:nvPr>
            <p:ph idx="1"/>
          </p:nvPr>
        </p:nvPicPr>
        <p:blipFill>
          <a:blip r:embed="rId2"/>
          <a:stretch>
            <a:fillRect/>
          </a:stretch>
        </p:blipFill>
        <p:spPr>
          <a:xfrm>
            <a:off x="838200" y="1414780"/>
            <a:ext cx="10336530" cy="5154930"/>
          </a:xfrm>
          <a:prstGeom prst="rect">
            <a:avLst/>
          </a:prstGeom>
          <a:ln>
            <a:solidFill>
              <a:schemeClr val="tx1"/>
            </a:solidFill>
          </a:ln>
        </p:spPr>
      </p:pic>
      <p:pic>
        <p:nvPicPr>
          <p:cNvPr id="4" name="Picture 3"/>
          <p:cNvPicPr>
            <a:picLocks noChangeAspect="1"/>
          </p:cNvPicPr>
          <p:nvPr/>
        </p:nvPicPr>
        <p:blipFill>
          <a:blip r:embed="rId3"/>
          <a:stretch>
            <a:fillRect/>
          </a:stretch>
        </p:blipFill>
        <p:spPr>
          <a:xfrm>
            <a:off x="10483215" y="196850"/>
            <a:ext cx="1402080" cy="95440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9568E-329E-1FA0-6470-38749801FC5E}"/>
              </a:ext>
            </a:extLst>
          </p:cNvPr>
          <p:cNvSpPr>
            <a:spLocks noGrp="1"/>
          </p:cNvSpPr>
          <p:nvPr>
            <p:ph type="title"/>
          </p:nvPr>
        </p:nvSpPr>
        <p:spPr>
          <a:xfrm>
            <a:off x="838200" y="365125"/>
            <a:ext cx="8693426" cy="1325563"/>
          </a:xfrm>
          <a:ln>
            <a:solidFill>
              <a:schemeClr val="tx1"/>
            </a:solidFill>
          </a:ln>
        </p:spPr>
        <p:txBody>
          <a:bodyPr/>
          <a:lstStyle/>
          <a:p>
            <a:r>
              <a:rPr lang="en-IN" b="1" dirty="0">
                <a:latin typeface="Kalinga" panose="020B0502040204020203" pitchFamily="34" charset="0"/>
                <a:cs typeface="Kalinga" panose="020B0502040204020203" pitchFamily="34" charset="0"/>
              </a:rPr>
              <a:t>Comparison Table and Graph</a:t>
            </a:r>
            <a:endParaRPr lang="en-IN" dirty="0"/>
          </a:p>
        </p:txBody>
      </p:sp>
      <p:graphicFrame>
        <p:nvGraphicFramePr>
          <p:cNvPr id="4" name="Content Placeholder 3">
            <a:extLst>
              <a:ext uri="{FF2B5EF4-FFF2-40B4-BE49-F238E27FC236}">
                <a16:creationId xmlns:a16="http://schemas.microsoft.com/office/drawing/2014/main" id="{F6F0CF62-5A82-F49D-3F41-7B381E3E1A36}"/>
              </a:ext>
            </a:extLst>
          </p:cNvPr>
          <p:cNvGraphicFramePr>
            <a:graphicFrameLocks noGrp="1"/>
          </p:cNvGraphicFramePr>
          <p:nvPr>
            <p:ph idx="1"/>
            <p:extLst>
              <p:ext uri="{D42A27DB-BD31-4B8C-83A1-F6EECF244321}">
                <p14:modId xmlns:p14="http://schemas.microsoft.com/office/powerpoint/2010/main" val="4033991345"/>
              </p:ext>
            </p:extLst>
          </p:nvPr>
        </p:nvGraphicFramePr>
        <p:xfrm>
          <a:off x="838200" y="1825624"/>
          <a:ext cx="10515600" cy="3383280"/>
        </p:xfrm>
        <a:graphic>
          <a:graphicData uri="http://schemas.openxmlformats.org/drawingml/2006/table">
            <a:tbl>
              <a:tblPr firstRow="1" bandRow="1">
                <a:tableStyleId>{00A15C55-8517-42AA-B614-E9B94910E393}</a:tableStyleId>
              </a:tblPr>
              <a:tblGrid>
                <a:gridCol w="2628900">
                  <a:extLst>
                    <a:ext uri="{9D8B030D-6E8A-4147-A177-3AD203B41FA5}">
                      <a16:colId xmlns:a16="http://schemas.microsoft.com/office/drawing/2014/main" val="2729370270"/>
                    </a:ext>
                  </a:extLst>
                </a:gridCol>
                <a:gridCol w="2628900">
                  <a:extLst>
                    <a:ext uri="{9D8B030D-6E8A-4147-A177-3AD203B41FA5}">
                      <a16:colId xmlns:a16="http://schemas.microsoft.com/office/drawing/2014/main" val="3861392835"/>
                    </a:ext>
                  </a:extLst>
                </a:gridCol>
                <a:gridCol w="2628900">
                  <a:extLst>
                    <a:ext uri="{9D8B030D-6E8A-4147-A177-3AD203B41FA5}">
                      <a16:colId xmlns:a16="http://schemas.microsoft.com/office/drawing/2014/main" val="1503550306"/>
                    </a:ext>
                  </a:extLst>
                </a:gridCol>
                <a:gridCol w="2628900">
                  <a:extLst>
                    <a:ext uri="{9D8B030D-6E8A-4147-A177-3AD203B41FA5}">
                      <a16:colId xmlns:a16="http://schemas.microsoft.com/office/drawing/2014/main" val="2966404899"/>
                    </a:ext>
                  </a:extLst>
                </a:gridCol>
              </a:tblGrid>
              <a:tr h="553808">
                <a:tc>
                  <a:txBody>
                    <a:bodyPr/>
                    <a:lstStyle/>
                    <a:p>
                      <a:r>
                        <a:rPr lang="en-IN" sz="3200" dirty="0">
                          <a:latin typeface="Times New Roman" panose="02020603050405020304" pitchFamily="18" charset="0"/>
                          <a:cs typeface="Times New Roman" panose="02020603050405020304" pitchFamily="18" charset="0"/>
                        </a:rPr>
                        <a:t>Model</a:t>
                      </a:r>
                    </a:p>
                  </a:txBody>
                  <a:tcPr anchor="ctr"/>
                </a:tc>
                <a:tc>
                  <a:txBody>
                    <a:bodyPr/>
                    <a:lstStyle/>
                    <a:p>
                      <a:r>
                        <a:rPr lang="en-IN" sz="3200" dirty="0">
                          <a:latin typeface="Times New Roman" panose="02020603050405020304" pitchFamily="18" charset="0"/>
                          <a:cs typeface="Times New Roman" panose="02020603050405020304" pitchFamily="18" charset="0"/>
                        </a:rPr>
                        <a:t>Accuracy</a:t>
                      </a:r>
                    </a:p>
                  </a:txBody>
                  <a:tcPr anchor="ctr"/>
                </a:tc>
                <a:tc>
                  <a:txBody>
                    <a:bodyPr/>
                    <a:lstStyle/>
                    <a:p>
                      <a:r>
                        <a:rPr lang="en-IN" sz="3200" dirty="0">
                          <a:latin typeface="Times New Roman" panose="02020603050405020304" pitchFamily="18" charset="0"/>
                          <a:cs typeface="Times New Roman" panose="02020603050405020304" pitchFamily="18" charset="0"/>
                        </a:rPr>
                        <a:t>F1-Score</a:t>
                      </a:r>
                    </a:p>
                  </a:txBody>
                  <a:tcPr anchor="ctr"/>
                </a:tc>
                <a:tc>
                  <a:txBody>
                    <a:bodyPr/>
                    <a:lstStyle/>
                    <a:p>
                      <a:r>
                        <a:rPr lang="en-IN" sz="3200" dirty="0">
                          <a:latin typeface="Times New Roman" panose="02020603050405020304" pitchFamily="18" charset="0"/>
                          <a:cs typeface="Times New Roman" panose="02020603050405020304" pitchFamily="18" charset="0"/>
                        </a:rPr>
                        <a:t>FPR</a:t>
                      </a:r>
                    </a:p>
                  </a:txBody>
                  <a:tcPr anchor="ctr"/>
                </a:tc>
                <a:extLst>
                  <a:ext uri="{0D108BD9-81ED-4DB2-BD59-A6C34878D82A}">
                    <a16:rowId xmlns:a16="http://schemas.microsoft.com/office/drawing/2014/main" val="2859667499"/>
                  </a:ext>
                </a:extLst>
              </a:tr>
              <a:tr h="553808">
                <a:tc>
                  <a:txBody>
                    <a:bodyPr/>
                    <a:lstStyle/>
                    <a:p>
                      <a:r>
                        <a:rPr lang="en-IN" sz="3200" dirty="0">
                          <a:latin typeface="Times New Roman" panose="02020603050405020304" pitchFamily="18" charset="0"/>
                          <a:cs typeface="Times New Roman" panose="02020603050405020304" pitchFamily="18" charset="0"/>
                        </a:rPr>
                        <a:t>CNN</a:t>
                      </a:r>
                    </a:p>
                  </a:txBody>
                  <a:tcPr anchor="ctr"/>
                </a:tc>
                <a:tc>
                  <a:txBody>
                    <a:bodyPr/>
                    <a:lstStyle/>
                    <a:p>
                      <a:r>
                        <a:rPr lang="en-IN" sz="3200">
                          <a:latin typeface="Times New Roman" panose="02020603050405020304" pitchFamily="18" charset="0"/>
                          <a:cs typeface="Times New Roman" panose="02020603050405020304" pitchFamily="18" charset="0"/>
                        </a:rPr>
                        <a:t>85%</a:t>
                      </a:r>
                    </a:p>
                  </a:txBody>
                  <a:tcPr anchor="ctr"/>
                </a:tc>
                <a:tc>
                  <a:txBody>
                    <a:bodyPr/>
                    <a:lstStyle/>
                    <a:p>
                      <a:r>
                        <a:rPr lang="en-IN" sz="3200">
                          <a:latin typeface="Times New Roman" panose="02020603050405020304" pitchFamily="18" charset="0"/>
                          <a:cs typeface="Times New Roman" panose="02020603050405020304" pitchFamily="18" charset="0"/>
                        </a:rPr>
                        <a:t>84.2%</a:t>
                      </a:r>
                    </a:p>
                  </a:txBody>
                  <a:tcPr anchor="ctr"/>
                </a:tc>
                <a:tc>
                  <a:txBody>
                    <a:bodyPr/>
                    <a:lstStyle/>
                    <a:p>
                      <a:r>
                        <a:rPr lang="en-IN" sz="3200" dirty="0">
                          <a:latin typeface="Times New Roman" panose="02020603050405020304" pitchFamily="18" charset="0"/>
                          <a:cs typeface="Times New Roman" panose="02020603050405020304" pitchFamily="18" charset="0"/>
                        </a:rPr>
                        <a:t>4.5%</a:t>
                      </a:r>
                    </a:p>
                  </a:txBody>
                  <a:tcPr anchor="ctr"/>
                </a:tc>
                <a:extLst>
                  <a:ext uri="{0D108BD9-81ED-4DB2-BD59-A6C34878D82A}">
                    <a16:rowId xmlns:a16="http://schemas.microsoft.com/office/drawing/2014/main" val="472539081"/>
                  </a:ext>
                </a:extLst>
              </a:tr>
              <a:tr h="553808">
                <a:tc>
                  <a:txBody>
                    <a:bodyPr/>
                    <a:lstStyle/>
                    <a:p>
                      <a:r>
                        <a:rPr lang="en-IN" sz="3200" dirty="0">
                          <a:latin typeface="Times New Roman" panose="02020603050405020304" pitchFamily="18" charset="0"/>
                          <a:cs typeface="Times New Roman" panose="02020603050405020304" pitchFamily="18" charset="0"/>
                        </a:rPr>
                        <a:t>LSTM</a:t>
                      </a:r>
                    </a:p>
                  </a:txBody>
                  <a:tcPr anchor="ctr"/>
                </a:tc>
                <a:tc>
                  <a:txBody>
                    <a:bodyPr/>
                    <a:lstStyle/>
                    <a:p>
                      <a:r>
                        <a:rPr lang="en-IN" sz="3200" dirty="0">
                          <a:latin typeface="Times New Roman" panose="02020603050405020304" pitchFamily="18" charset="0"/>
                          <a:cs typeface="Times New Roman" panose="02020603050405020304" pitchFamily="18" charset="0"/>
                        </a:rPr>
                        <a:t>88.5%</a:t>
                      </a:r>
                    </a:p>
                  </a:txBody>
                  <a:tcPr anchor="ctr"/>
                </a:tc>
                <a:tc>
                  <a:txBody>
                    <a:bodyPr/>
                    <a:lstStyle/>
                    <a:p>
                      <a:r>
                        <a:rPr lang="en-IN" sz="3200">
                          <a:latin typeface="Times New Roman" panose="02020603050405020304" pitchFamily="18" charset="0"/>
                          <a:cs typeface="Times New Roman" panose="02020603050405020304" pitchFamily="18" charset="0"/>
                        </a:rPr>
                        <a:t>87.9%</a:t>
                      </a:r>
                    </a:p>
                  </a:txBody>
                  <a:tcPr anchor="ctr"/>
                </a:tc>
                <a:tc>
                  <a:txBody>
                    <a:bodyPr/>
                    <a:lstStyle/>
                    <a:p>
                      <a:r>
                        <a:rPr lang="en-IN" sz="3200">
                          <a:latin typeface="Times New Roman" panose="02020603050405020304" pitchFamily="18" charset="0"/>
                          <a:cs typeface="Times New Roman" panose="02020603050405020304" pitchFamily="18" charset="0"/>
                        </a:rPr>
                        <a:t>2.3%</a:t>
                      </a:r>
                    </a:p>
                  </a:txBody>
                  <a:tcPr anchor="ctr"/>
                </a:tc>
                <a:extLst>
                  <a:ext uri="{0D108BD9-81ED-4DB2-BD59-A6C34878D82A}">
                    <a16:rowId xmlns:a16="http://schemas.microsoft.com/office/drawing/2014/main" val="3259456271"/>
                  </a:ext>
                </a:extLst>
              </a:tr>
              <a:tr h="553808">
                <a:tc>
                  <a:txBody>
                    <a:bodyPr/>
                    <a:lstStyle/>
                    <a:p>
                      <a:r>
                        <a:rPr lang="en-IN" sz="3200">
                          <a:latin typeface="Times New Roman" panose="02020603050405020304" pitchFamily="18" charset="0"/>
                          <a:cs typeface="Times New Roman" panose="02020603050405020304" pitchFamily="18" charset="0"/>
                        </a:rPr>
                        <a:t>GRU</a:t>
                      </a:r>
                    </a:p>
                  </a:txBody>
                  <a:tcPr anchor="ctr"/>
                </a:tc>
                <a:tc>
                  <a:txBody>
                    <a:bodyPr/>
                    <a:lstStyle/>
                    <a:p>
                      <a:r>
                        <a:rPr lang="en-IN" sz="3200" dirty="0">
                          <a:latin typeface="Times New Roman" panose="02020603050405020304" pitchFamily="18" charset="0"/>
                          <a:cs typeface="Times New Roman" panose="02020603050405020304" pitchFamily="18" charset="0"/>
                        </a:rPr>
                        <a:t>89%</a:t>
                      </a:r>
                    </a:p>
                  </a:txBody>
                  <a:tcPr anchor="ctr"/>
                </a:tc>
                <a:tc>
                  <a:txBody>
                    <a:bodyPr/>
                    <a:lstStyle/>
                    <a:p>
                      <a:r>
                        <a:rPr lang="en-IN" sz="3200">
                          <a:latin typeface="Times New Roman" panose="02020603050405020304" pitchFamily="18" charset="0"/>
                          <a:cs typeface="Times New Roman" panose="02020603050405020304" pitchFamily="18" charset="0"/>
                        </a:rPr>
                        <a:t>88.4%</a:t>
                      </a:r>
                    </a:p>
                  </a:txBody>
                  <a:tcPr anchor="ctr"/>
                </a:tc>
                <a:tc>
                  <a:txBody>
                    <a:bodyPr/>
                    <a:lstStyle/>
                    <a:p>
                      <a:r>
                        <a:rPr lang="en-IN" sz="3200">
                          <a:latin typeface="Times New Roman" panose="02020603050405020304" pitchFamily="18" charset="0"/>
                          <a:cs typeface="Times New Roman" panose="02020603050405020304" pitchFamily="18" charset="0"/>
                        </a:rPr>
                        <a:t>1.7%</a:t>
                      </a:r>
                    </a:p>
                  </a:txBody>
                  <a:tcPr anchor="ctr"/>
                </a:tc>
                <a:extLst>
                  <a:ext uri="{0D108BD9-81ED-4DB2-BD59-A6C34878D82A}">
                    <a16:rowId xmlns:a16="http://schemas.microsoft.com/office/drawing/2014/main" val="2375054876"/>
                  </a:ext>
                </a:extLst>
              </a:tr>
              <a:tr h="553808">
                <a:tc>
                  <a:txBody>
                    <a:bodyPr/>
                    <a:lstStyle/>
                    <a:p>
                      <a:r>
                        <a:rPr lang="en-IN" sz="3200" b="1" dirty="0">
                          <a:latin typeface="Times New Roman" panose="02020603050405020304" pitchFamily="18" charset="0"/>
                          <a:cs typeface="Times New Roman" panose="02020603050405020304" pitchFamily="18" charset="0"/>
                        </a:rPr>
                        <a:t>Bi-LSTM+GRU</a:t>
                      </a:r>
                      <a:endParaRPr lang="en-IN" sz="3200" dirty="0">
                        <a:latin typeface="Times New Roman" panose="02020603050405020304" pitchFamily="18" charset="0"/>
                        <a:cs typeface="Times New Roman" panose="02020603050405020304" pitchFamily="18" charset="0"/>
                      </a:endParaRPr>
                    </a:p>
                  </a:txBody>
                  <a:tcPr anchor="ctr"/>
                </a:tc>
                <a:tc>
                  <a:txBody>
                    <a:bodyPr/>
                    <a:lstStyle/>
                    <a:p>
                      <a:r>
                        <a:rPr lang="en-IN" sz="3200" b="1" dirty="0">
                          <a:latin typeface="Times New Roman" panose="02020603050405020304" pitchFamily="18" charset="0"/>
                          <a:cs typeface="Times New Roman" panose="02020603050405020304" pitchFamily="18" charset="0"/>
                        </a:rPr>
                        <a:t>91%</a:t>
                      </a:r>
                      <a:endParaRPr lang="en-IN" sz="3200" dirty="0">
                        <a:latin typeface="Times New Roman" panose="02020603050405020304" pitchFamily="18" charset="0"/>
                        <a:cs typeface="Times New Roman" panose="02020603050405020304" pitchFamily="18" charset="0"/>
                      </a:endParaRPr>
                    </a:p>
                  </a:txBody>
                  <a:tcPr anchor="ctr"/>
                </a:tc>
                <a:tc>
                  <a:txBody>
                    <a:bodyPr/>
                    <a:lstStyle/>
                    <a:p>
                      <a:r>
                        <a:rPr lang="en-IN" sz="3200" b="1" dirty="0">
                          <a:latin typeface="Times New Roman" panose="02020603050405020304" pitchFamily="18" charset="0"/>
                          <a:cs typeface="Times New Roman" panose="02020603050405020304" pitchFamily="18" charset="0"/>
                        </a:rPr>
                        <a:t>90.6%</a:t>
                      </a:r>
                      <a:endParaRPr lang="en-IN" sz="3200" dirty="0">
                        <a:latin typeface="Times New Roman" panose="02020603050405020304" pitchFamily="18" charset="0"/>
                        <a:cs typeface="Times New Roman" panose="02020603050405020304" pitchFamily="18" charset="0"/>
                      </a:endParaRPr>
                    </a:p>
                  </a:txBody>
                  <a:tcPr anchor="ctr"/>
                </a:tc>
                <a:tc>
                  <a:txBody>
                    <a:bodyPr/>
                    <a:lstStyle/>
                    <a:p>
                      <a:r>
                        <a:rPr lang="en-IN" sz="3200" b="1" dirty="0">
                          <a:latin typeface="Times New Roman" panose="02020603050405020304" pitchFamily="18" charset="0"/>
                          <a:cs typeface="Times New Roman" panose="02020603050405020304" pitchFamily="18" charset="0"/>
                        </a:rPr>
                        <a:t>0.01%</a:t>
                      </a:r>
                      <a:endParaRPr lang="en-IN" sz="3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32884771"/>
                  </a:ext>
                </a:extLst>
              </a:tr>
            </a:tbl>
          </a:graphicData>
        </a:graphic>
      </p:graphicFrame>
      <p:pic>
        <p:nvPicPr>
          <p:cNvPr id="5" name="Picture 4">
            <a:extLst>
              <a:ext uri="{FF2B5EF4-FFF2-40B4-BE49-F238E27FC236}">
                <a16:creationId xmlns:a16="http://schemas.microsoft.com/office/drawing/2014/main" id="{217E7DB4-6A4F-A858-6BDA-97A0EF073BD9}"/>
              </a:ext>
            </a:extLst>
          </p:cNvPr>
          <p:cNvPicPr>
            <a:picLocks noChangeAspect="1"/>
          </p:cNvPicPr>
          <p:nvPr/>
        </p:nvPicPr>
        <p:blipFill>
          <a:blip r:embed="rId2"/>
          <a:stretch>
            <a:fillRect/>
          </a:stretch>
        </p:blipFill>
        <p:spPr>
          <a:xfrm>
            <a:off x="10104120" y="281940"/>
            <a:ext cx="1597025" cy="1087755"/>
          </a:xfrm>
          <a:prstGeom prst="rect">
            <a:avLst/>
          </a:prstGeom>
        </p:spPr>
      </p:pic>
    </p:spTree>
    <p:extLst>
      <p:ext uri="{BB962C8B-B14F-4D97-AF65-F5344CB8AC3E}">
        <p14:creationId xmlns:p14="http://schemas.microsoft.com/office/powerpoint/2010/main" val="2272064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179560" cy="1325880"/>
          </a:xfrm>
          <a:ln>
            <a:solidFill>
              <a:schemeClr val="tx1"/>
            </a:solidFill>
          </a:ln>
        </p:spPr>
        <p:txBody>
          <a:bodyPr/>
          <a:lstStyle/>
          <a:p>
            <a:r>
              <a:rPr lang="en-IN" b="1" dirty="0">
                <a:latin typeface="Kalinga" panose="020B0502040204020203" pitchFamily="34" charset="0"/>
                <a:cs typeface="Kalinga" panose="020B0502040204020203" pitchFamily="34" charset="0"/>
              </a:rPr>
              <a:t>Proposed Model Results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77423186"/>
              </p:ext>
            </p:extLst>
          </p:nvPr>
        </p:nvGraphicFramePr>
        <p:xfrm>
          <a:off x="838200" y="2203609"/>
          <a:ext cx="10515600" cy="310896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0">
                <a:tc>
                  <a:txBody>
                    <a:bodyPr/>
                    <a:lstStyle/>
                    <a:p>
                      <a:pPr algn="l"/>
                      <a:r>
                        <a:rPr lang="en-IN" sz="2800" b="1" dirty="0">
                          <a:latin typeface="Kalinga" panose="020B0502040204020203" pitchFamily="34" charset="0"/>
                          <a:cs typeface="Kalinga" panose="020B0502040204020203" pitchFamily="34" charset="0"/>
                        </a:rPr>
                        <a:t>Metric</a:t>
                      </a:r>
                      <a:endParaRPr lang="en-IN" sz="2800" dirty="0">
                        <a:latin typeface="Kalinga" panose="020B0502040204020203" pitchFamily="34" charset="0"/>
                        <a:cs typeface="Kalinga" panose="020B0502040204020203" pitchFamily="34" charset="0"/>
                      </a:endParaRPr>
                    </a:p>
                  </a:txBody>
                  <a:tcPr anchor="ctr">
                    <a:lnL>
                      <a:noFill/>
                    </a:lnL>
                    <a:lnR>
                      <a:noFill/>
                    </a:lnR>
                    <a:lnT>
                      <a:noFill/>
                    </a:lnT>
                    <a:lnB>
                      <a:noFill/>
                    </a:lnB>
                    <a:noFill/>
                  </a:tcPr>
                </a:tc>
                <a:tc>
                  <a:txBody>
                    <a:bodyPr/>
                    <a:lstStyle/>
                    <a:p>
                      <a:pPr algn="l"/>
                      <a:r>
                        <a:rPr lang="en-IN" sz="2800" b="1">
                          <a:latin typeface="Kalinga" panose="020B0502040204020203" pitchFamily="34" charset="0"/>
                          <a:cs typeface="Kalinga" panose="020B0502040204020203" pitchFamily="34" charset="0"/>
                        </a:rPr>
                        <a:t>Score</a:t>
                      </a:r>
                      <a:endParaRPr lang="en-IN" sz="2800">
                        <a:latin typeface="Kalinga" panose="020B0502040204020203" pitchFamily="34" charset="0"/>
                        <a:cs typeface="Kalinga" panose="020B0502040204020203" pitchFamily="34" charset="0"/>
                      </a:endParaRPr>
                    </a:p>
                  </a:txBody>
                  <a:tcPr anchor="ctr">
                    <a:lnL>
                      <a:noFill/>
                    </a:lnL>
                    <a:lnR>
                      <a:noFill/>
                    </a:lnR>
                    <a:lnT>
                      <a:noFill/>
                    </a:lnT>
                    <a:lnB>
                      <a:noFill/>
                    </a:lnB>
                    <a:noFill/>
                  </a:tcPr>
                </a:tc>
                <a:extLst>
                  <a:ext uri="{0D108BD9-81ED-4DB2-BD59-A6C34878D82A}">
                    <a16:rowId xmlns:a16="http://schemas.microsoft.com/office/drawing/2014/main" val="10000"/>
                  </a:ext>
                </a:extLst>
              </a:tr>
              <a:tr h="0">
                <a:tc>
                  <a:txBody>
                    <a:bodyPr/>
                    <a:lstStyle/>
                    <a:p>
                      <a:pPr algn="l"/>
                      <a:r>
                        <a:rPr lang="en-IN" sz="2800">
                          <a:latin typeface="Kalinga" panose="020B0502040204020203" pitchFamily="34" charset="0"/>
                          <a:cs typeface="Kalinga" panose="020B0502040204020203" pitchFamily="34" charset="0"/>
                        </a:rPr>
                        <a:t>Accuracy</a:t>
                      </a:r>
                    </a:p>
                  </a:txBody>
                  <a:tcPr anchor="ctr">
                    <a:lnL>
                      <a:noFill/>
                    </a:lnL>
                    <a:lnR>
                      <a:noFill/>
                    </a:lnR>
                    <a:lnT>
                      <a:noFill/>
                    </a:lnT>
                    <a:lnB>
                      <a:noFill/>
                    </a:lnB>
                    <a:noFill/>
                  </a:tcPr>
                </a:tc>
                <a:tc>
                  <a:txBody>
                    <a:bodyPr/>
                    <a:lstStyle/>
                    <a:p>
                      <a:pPr algn="l"/>
                      <a:r>
                        <a:rPr lang="en-IN" sz="2800">
                          <a:latin typeface="Kalinga" panose="020B0502040204020203" pitchFamily="34" charset="0"/>
                          <a:cs typeface="Kalinga" panose="020B0502040204020203" pitchFamily="34" charset="0"/>
                        </a:rPr>
                        <a:t>91%</a:t>
                      </a:r>
                    </a:p>
                  </a:txBody>
                  <a:tcPr anchor="ctr">
                    <a:lnL>
                      <a:noFill/>
                    </a:lnL>
                    <a:lnR>
                      <a:noFill/>
                    </a:lnR>
                    <a:lnT>
                      <a:noFill/>
                    </a:lnT>
                    <a:lnB>
                      <a:noFill/>
                    </a:lnB>
                    <a:noFill/>
                  </a:tcPr>
                </a:tc>
                <a:extLst>
                  <a:ext uri="{0D108BD9-81ED-4DB2-BD59-A6C34878D82A}">
                    <a16:rowId xmlns:a16="http://schemas.microsoft.com/office/drawing/2014/main" val="10001"/>
                  </a:ext>
                </a:extLst>
              </a:tr>
              <a:tr h="0">
                <a:tc>
                  <a:txBody>
                    <a:bodyPr/>
                    <a:lstStyle/>
                    <a:p>
                      <a:pPr algn="l"/>
                      <a:r>
                        <a:rPr lang="en-IN" sz="2800">
                          <a:latin typeface="Kalinga" panose="020B0502040204020203" pitchFamily="34" charset="0"/>
                          <a:cs typeface="Kalinga" panose="020B0502040204020203" pitchFamily="34" charset="0"/>
                        </a:rPr>
                        <a:t>Precision</a:t>
                      </a:r>
                    </a:p>
                  </a:txBody>
                  <a:tcPr anchor="ctr">
                    <a:lnL>
                      <a:noFill/>
                    </a:lnL>
                    <a:lnR>
                      <a:noFill/>
                    </a:lnR>
                    <a:lnT>
                      <a:noFill/>
                    </a:lnT>
                    <a:lnB>
                      <a:noFill/>
                    </a:lnB>
                    <a:noFill/>
                  </a:tcPr>
                </a:tc>
                <a:tc>
                  <a:txBody>
                    <a:bodyPr/>
                    <a:lstStyle/>
                    <a:p>
                      <a:pPr algn="l"/>
                      <a:r>
                        <a:rPr lang="en-IN" sz="2800">
                          <a:latin typeface="Kalinga" panose="020B0502040204020203" pitchFamily="34" charset="0"/>
                          <a:cs typeface="Kalinga" panose="020B0502040204020203" pitchFamily="34" charset="0"/>
                        </a:rPr>
                        <a:t>90.5%</a:t>
                      </a:r>
                    </a:p>
                  </a:txBody>
                  <a:tcPr anchor="ctr">
                    <a:lnL>
                      <a:noFill/>
                    </a:lnL>
                    <a:lnR>
                      <a:noFill/>
                    </a:lnR>
                    <a:lnT>
                      <a:noFill/>
                    </a:lnT>
                    <a:lnB>
                      <a:noFill/>
                    </a:lnB>
                    <a:noFill/>
                  </a:tcPr>
                </a:tc>
                <a:extLst>
                  <a:ext uri="{0D108BD9-81ED-4DB2-BD59-A6C34878D82A}">
                    <a16:rowId xmlns:a16="http://schemas.microsoft.com/office/drawing/2014/main" val="10002"/>
                  </a:ext>
                </a:extLst>
              </a:tr>
              <a:tr h="0">
                <a:tc>
                  <a:txBody>
                    <a:bodyPr/>
                    <a:lstStyle/>
                    <a:p>
                      <a:pPr algn="l"/>
                      <a:r>
                        <a:rPr lang="en-IN" sz="2800" dirty="0">
                          <a:latin typeface="Kalinga" panose="020B0502040204020203" pitchFamily="34" charset="0"/>
                          <a:cs typeface="Kalinga" panose="020B0502040204020203" pitchFamily="34" charset="0"/>
                        </a:rPr>
                        <a:t>Recall</a:t>
                      </a:r>
                    </a:p>
                  </a:txBody>
                  <a:tcPr anchor="ctr">
                    <a:lnL>
                      <a:noFill/>
                    </a:lnL>
                    <a:lnR>
                      <a:noFill/>
                    </a:lnR>
                    <a:lnT>
                      <a:noFill/>
                    </a:lnT>
                    <a:lnB>
                      <a:noFill/>
                    </a:lnB>
                    <a:noFill/>
                  </a:tcPr>
                </a:tc>
                <a:tc>
                  <a:txBody>
                    <a:bodyPr/>
                    <a:lstStyle/>
                    <a:p>
                      <a:pPr algn="l"/>
                      <a:r>
                        <a:rPr lang="en-IN" sz="2800">
                          <a:latin typeface="Kalinga" panose="020B0502040204020203" pitchFamily="34" charset="0"/>
                          <a:cs typeface="Kalinga" panose="020B0502040204020203" pitchFamily="34" charset="0"/>
                        </a:rPr>
                        <a:t>89.1%</a:t>
                      </a:r>
                    </a:p>
                  </a:txBody>
                  <a:tcPr anchor="ctr">
                    <a:lnL>
                      <a:noFill/>
                    </a:lnL>
                    <a:lnR>
                      <a:noFill/>
                    </a:lnR>
                    <a:lnT>
                      <a:noFill/>
                    </a:lnT>
                    <a:lnB>
                      <a:noFill/>
                    </a:lnB>
                    <a:noFill/>
                  </a:tcPr>
                </a:tc>
                <a:extLst>
                  <a:ext uri="{0D108BD9-81ED-4DB2-BD59-A6C34878D82A}">
                    <a16:rowId xmlns:a16="http://schemas.microsoft.com/office/drawing/2014/main" val="10003"/>
                  </a:ext>
                </a:extLst>
              </a:tr>
              <a:tr h="0">
                <a:tc>
                  <a:txBody>
                    <a:bodyPr/>
                    <a:lstStyle/>
                    <a:p>
                      <a:pPr algn="l"/>
                      <a:r>
                        <a:rPr lang="en-IN" sz="2800">
                          <a:latin typeface="Kalinga" panose="020B0502040204020203" pitchFamily="34" charset="0"/>
                          <a:cs typeface="Kalinga" panose="020B0502040204020203" pitchFamily="34" charset="0"/>
                        </a:rPr>
                        <a:t>F1-Score</a:t>
                      </a:r>
                    </a:p>
                  </a:txBody>
                  <a:tcPr anchor="ctr">
                    <a:lnL>
                      <a:noFill/>
                    </a:lnL>
                    <a:lnR>
                      <a:noFill/>
                    </a:lnR>
                    <a:lnT>
                      <a:noFill/>
                    </a:lnT>
                    <a:lnB>
                      <a:noFill/>
                    </a:lnB>
                    <a:noFill/>
                  </a:tcPr>
                </a:tc>
                <a:tc>
                  <a:txBody>
                    <a:bodyPr/>
                    <a:lstStyle/>
                    <a:p>
                      <a:pPr algn="l"/>
                      <a:r>
                        <a:rPr lang="en-IN" sz="2800">
                          <a:latin typeface="Kalinga" panose="020B0502040204020203" pitchFamily="34" charset="0"/>
                          <a:cs typeface="Kalinga" panose="020B0502040204020203" pitchFamily="34" charset="0"/>
                        </a:rPr>
                        <a:t>90.6%</a:t>
                      </a:r>
                    </a:p>
                  </a:txBody>
                  <a:tcPr anchor="ctr">
                    <a:lnL>
                      <a:noFill/>
                    </a:lnL>
                    <a:lnR>
                      <a:noFill/>
                    </a:lnR>
                    <a:lnT>
                      <a:noFill/>
                    </a:lnT>
                    <a:lnB>
                      <a:noFill/>
                    </a:lnB>
                    <a:noFill/>
                  </a:tcPr>
                </a:tc>
                <a:extLst>
                  <a:ext uri="{0D108BD9-81ED-4DB2-BD59-A6C34878D82A}">
                    <a16:rowId xmlns:a16="http://schemas.microsoft.com/office/drawing/2014/main" val="10004"/>
                  </a:ext>
                </a:extLst>
              </a:tr>
              <a:tr h="0">
                <a:tc>
                  <a:txBody>
                    <a:bodyPr/>
                    <a:lstStyle/>
                    <a:p>
                      <a:pPr algn="l"/>
                      <a:r>
                        <a:rPr lang="en-IN" sz="2800">
                          <a:latin typeface="Kalinga" panose="020B0502040204020203" pitchFamily="34" charset="0"/>
                          <a:cs typeface="Kalinga" panose="020B0502040204020203" pitchFamily="34" charset="0"/>
                        </a:rPr>
                        <a:t>FPR</a:t>
                      </a:r>
                    </a:p>
                  </a:txBody>
                  <a:tcPr anchor="ctr">
                    <a:lnL>
                      <a:noFill/>
                    </a:lnL>
                    <a:lnR>
                      <a:noFill/>
                    </a:lnR>
                    <a:lnT>
                      <a:noFill/>
                    </a:lnT>
                    <a:lnB>
                      <a:noFill/>
                    </a:lnB>
                    <a:noFill/>
                  </a:tcPr>
                </a:tc>
                <a:tc>
                  <a:txBody>
                    <a:bodyPr/>
                    <a:lstStyle/>
                    <a:p>
                      <a:pPr algn="l"/>
                      <a:r>
                        <a:rPr lang="en-IN" sz="2800" dirty="0">
                          <a:latin typeface="Kalinga" panose="020B0502040204020203" pitchFamily="34" charset="0"/>
                          <a:cs typeface="Kalinga" panose="020B0502040204020203" pitchFamily="34" charset="0"/>
                        </a:rPr>
                        <a:t>0.01%</a:t>
                      </a:r>
                    </a:p>
                  </a:txBody>
                  <a:tcPr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pic>
        <p:nvPicPr>
          <p:cNvPr id="3" name="Picture 2"/>
          <p:cNvPicPr>
            <a:picLocks noChangeAspect="1"/>
          </p:cNvPicPr>
          <p:nvPr/>
        </p:nvPicPr>
        <p:blipFill>
          <a:blip r:embed="rId2"/>
          <a:stretch>
            <a:fillRect/>
          </a:stretch>
        </p:blipFill>
        <p:spPr>
          <a:xfrm>
            <a:off x="10132695" y="196850"/>
            <a:ext cx="1624330" cy="11055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Screenshot 2025-05-02 095510"/>
          <p:cNvPicPr>
            <a:picLocks noGrp="1" noChangeAspect="1"/>
          </p:cNvPicPr>
          <p:nvPr>
            <p:ph sz="half" idx="1"/>
          </p:nvPr>
        </p:nvPicPr>
        <p:blipFill>
          <a:blip r:embed="rId2"/>
          <a:stretch>
            <a:fillRect/>
          </a:stretch>
        </p:blipFill>
        <p:spPr>
          <a:xfrm>
            <a:off x="254000" y="645795"/>
            <a:ext cx="5220970" cy="4260215"/>
          </a:xfrm>
          <a:prstGeom prst="rect">
            <a:avLst/>
          </a:prstGeom>
          <a:ln>
            <a:solidFill>
              <a:schemeClr val="accent6"/>
            </a:solidFill>
          </a:ln>
        </p:spPr>
      </p:pic>
      <p:pic>
        <p:nvPicPr>
          <p:cNvPr id="16" name="Picture 15" descr="Screenshot 2025-05-02 100224"/>
          <p:cNvPicPr>
            <a:picLocks noChangeAspect="1"/>
          </p:cNvPicPr>
          <p:nvPr/>
        </p:nvPicPr>
        <p:blipFill>
          <a:blip r:embed="rId3"/>
          <a:stretch>
            <a:fillRect/>
          </a:stretch>
        </p:blipFill>
        <p:spPr>
          <a:xfrm>
            <a:off x="6096000" y="1527810"/>
            <a:ext cx="5640705" cy="2263140"/>
          </a:xfrm>
          <a:prstGeom prst="rect">
            <a:avLst/>
          </a:prstGeom>
          <a:ln>
            <a:solidFill>
              <a:schemeClr val="accent6"/>
            </a:solid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creenshot 2025-05-02 095530"/>
          <p:cNvPicPr>
            <a:picLocks noGrp="1" noChangeAspect="1"/>
          </p:cNvPicPr>
          <p:nvPr>
            <p:ph idx="1"/>
          </p:nvPr>
        </p:nvPicPr>
        <p:blipFill>
          <a:blip r:embed="rId2"/>
          <a:stretch>
            <a:fillRect/>
          </a:stretch>
        </p:blipFill>
        <p:spPr>
          <a:xfrm>
            <a:off x="602615" y="687070"/>
            <a:ext cx="10986135" cy="4727575"/>
          </a:xfrm>
          <a:prstGeom prst="rect">
            <a:avLst/>
          </a:prstGeom>
          <a:ln>
            <a:solidFill>
              <a:schemeClr val="accent6"/>
            </a:solid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 y="274160"/>
            <a:ext cx="7902677" cy="1325563"/>
          </a:xfrm>
          <a:ln>
            <a:solidFill>
              <a:schemeClr val="tx1"/>
            </a:solidFill>
          </a:ln>
        </p:spPr>
        <p:txBody>
          <a:bodyPr>
            <a:normAutofit/>
          </a:bodyPr>
          <a:lstStyle/>
          <a:p>
            <a:r>
              <a:rPr lang="en-IN" sz="4000" b="1" dirty="0">
                <a:latin typeface="Kalinga" panose="020B0502040204020203" pitchFamily="34" charset="0"/>
                <a:cs typeface="Kalinga" panose="020B0502040204020203" pitchFamily="34" charset="0"/>
              </a:rPr>
              <a:t>Sustainability Development Goals (SDGs)</a:t>
            </a:r>
          </a:p>
        </p:txBody>
      </p:sp>
      <p:sp>
        <p:nvSpPr>
          <p:cNvPr id="4" name="Rectangle 1"/>
          <p:cNvSpPr>
            <a:spLocks noGrp="1" noChangeArrowheads="1"/>
          </p:cNvSpPr>
          <p:nvPr>
            <p:ph idx="1"/>
          </p:nvPr>
        </p:nvSpPr>
        <p:spPr bwMode="auto">
          <a:xfrm>
            <a:off x="536714" y="1679713"/>
            <a:ext cx="10926942" cy="503913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u="none" strike="noStrike" cap="none" normalizeH="0" baseline="0" dirty="0">
                <a:ln>
                  <a:noFill/>
                </a:ln>
                <a:solidFill>
                  <a:schemeClr val="tx1"/>
                </a:solidFill>
                <a:effectLst/>
                <a:latin typeface="Kalinga" panose="020B0502040204020203" pitchFamily="34" charset="0"/>
                <a:cs typeface="Kalinga" panose="020B0502040204020203" pitchFamily="34" charset="0"/>
              </a:rPr>
              <a:t>SDG 9 – Industry, Innovation and Infrastructure</a:t>
            </a:r>
            <a:b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b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Promotes resilient infrastructure and fosters innovation in secure technologies like cybersecurity.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u="none" strike="noStrike" cap="none" normalizeH="0" baseline="0" dirty="0">
                <a:ln>
                  <a:noFill/>
                </a:ln>
                <a:solidFill>
                  <a:schemeClr val="tx1"/>
                </a:solidFill>
                <a:effectLst/>
                <a:latin typeface="Kalinga" panose="020B0502040204020203" pitchFamily="34" charset="0"/>
                <a:cs typeface="Kalinga" panose="020B0502040204020203" pitchFamily="34" charset="0"/>
              </a:rPr>
              <a:t>SDG 16 – Peace, Justice and Strong Institutions</a:t>
            </a:r>
            <a:b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b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Supports development of robust security systems to ensure digital safety and institutional integrity.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u="none" strike="noStrike" cap="none" normalizeH="0" baseline="0" dirty="0">
                <a:ln>
                  <a:noFill/>
                </a:ln>
                <a:solidFill>
                  <a:schemeClr val="tx1"/>
                </a:solidFill>
                <a:effectLst/>
                <a:latin typeface="Kalinga" panose="020B0502040204020203" pitchFamily="34" charset="0"/>
                <a:cs typeface="Kalinga" panose="020B0502040204020203" pitchFamily="34" charset="0"/>
              </a:rPr>
              <a:t>SDG 12 – Responsible Consumption and Production</a:t>
            </a: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 (additional relevant goal)</a:t>
            </a:r>
            <a:b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b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Encourages efficient use of computing resources and reduction of environmental impact in AI applications</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000" b="1" u="none" strike="noStrike" cap="none" normalizeH="0" baseline="0" dirty="0">
                <a:ln>
                  <a:noFill/>
                </a:ln>
                <a:solidFill>
                  <a:schemeClr val="tx1"/>
                </a:solidFill>
                <a:effectLst/>
                <a:latin typeface="Kalinga" panose="020B0502040204020203" pitchFamily="34" charset="0"/>
                <a:cs typeface="Kalinga" panose="020B0502040204020203" pitchFamily="34" charset="0"/>
              </a:rPr>
              <a:t>Sustainability Aspects</a:t>
            </a: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Lightweight GRU → low energy use</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Uses open-source &amp; efficient preprocessing</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000" b="0" u="none" strike="noStrike" cap="none" normalizeH="0" baseline="0" dirty="0">
                <a:ln>
                  <a:noFill/>
                </a:ln>
                <a:solidFill>
                  <a:schemeClr val="tx1"/>
                </a:solidFill>
                <a:effectLst/>
                <a:latin typeface="Kalinga" panose="020B0502040204020203" pitchFamily="34" charset="0"/>
                <a:cs typeface="Kalinga" panose="020B0502040204020203" pitchFamily="34" charset="0"/>
              </a:rPr>
              <a:t>Cloud/edge deployable</a:t>
            </a: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0" i="1"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p:txBody>
      </p:sp>
      <p:pic>
        <p:nvPicPr>
          <p:cNvPr id="3" name="Picture 2"/>
          <p:cNvPicPr>
            <a:picLocks noChangeAspect="1"/>
          </p:cNvPicPr>
          <p:nvPr/>
        </p:nvPicPr>
        <p:blipFill>
          <a:blip r:embed="rId2"/>
          <a:stretch>
            <a:fillRect/>
          </a:stretch>
        </p:blipFill>
        <p:spPr>
          <a:xfrm>
            <a:off x="9909810" y="429895"/>
            <a:ext cx="1489710" cy="101409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930" y="196850"/>
            <a:ext cx="9433560" cy="697230"/>
          </a:xfrm>
          <a:ln>
            <a:solidFill>
              <a:schemeClr val="tx1"/>
            </a:solidFill>
          </a:ln>
        </p:spPr>
        <p:txBody>
          <a:bodyPr>
            <a:normAutofit fontScale="90000"/>
          </a:bodyPr>
          <a:lstStyle/>
          <a:p>
            <a:br>
              <a:rPr lang="en-US" sz="4000" b="1" dirty="0">
                <a:latin typeface="Kalinga" panose="020B0502040204020203" pitchFamily="34" charset="0"/>
                <a:cs typeface="Kalinga" panose="020B0502040204020203" pitchFamily="34" charset="0"/>
              </a:rPr>
            </a:br>
            <a:r>
              <a:rPr lang="en-US" sz="4000" b="1" dirty="0">
                <a:latin typeface="Kalinga" panose="020B0502040204020203" pitchFamily="34" charset="0"/>
                <a:cs typeface="Kalinga" panose="020B0502040204020203" pitchFamily="34" charset="0"/>
              </a:rPr>
              <a:t>Conclusion</a:t>
            </a:r>
            <a:br>
              <a:rPr lang="en-US" b="1" dirty="0">
                <a:latin typeface="Kalinga" panose="020B0502040204020203" pitchFamily="34" charset="0"/>
                <a:cs typeface="Kalinga" panose="020B0502040204020203" pitchFamily="34" charset="0"/>
              </a:rPr>
            </a:br>
            <a:endParaRPr lang="en-IN" dirty="0">
              <a:latin typeface="Kalinga" panose="020B0502040204020203" pitchFamily="34" charset="0"/>
              <a:cs typeface="Kalinga" panose="020B0502040204020203" pitchFamily="34" charset="0"/>
            </a:endParaRPr>
          </a:p>
        </p:txBody>
      </p:sp>
      <p:sp>
        <p:nvSpPr>
          <p:cNvPr id="3" name="Content Placeholder 2"/>
          <p:cNvSpPr>
            <a:spLocks noGrp="1"/>
          </p:cNvSpPr>
          <p:nvPr>
            <p:ph idx="1"/>
          </p:nvPr>
        </p:nvSpPr>
        <p:spPr>
          <a:xfrm>
            <a:off x="328930" y="1294765"/>
            <a:ext cx="11433175" cy="5250180"/>
          </a:xfrm>
          <a:ln>
            <a:solidFill>
              <a:schemeClr val="tx1"/>
            </a:solidFill>
          </a:ln>
        </p:spPr>
        <p:txBody>
          <a:bodyPr>
            <a:normAutofit/>
          </a:bodyPr>
          <a:lstStyle/>
          <a:p>
            <a:pPr>
              <a:buNone/>
            </a:pPr>
            <a:r>
              <a:rPr lang="en-US" sz="2200" dirty="0">
                <a:latin typeface="Kalinga" panose="020B0502040204020203" pitchFamily="34" charset="0"/>
                <a:cs typeface="Kalinga" panose="020B0502040204020203" pitchFamily="34" charset="0"/>
              </a:rPr>
              <a:t>The Bi-LSTM + GRU model:</a:t>
            </a:r>
          </a:p>
          <a:p>
            <a:pPr marL="742950" lvl="1" indent="-285750">
              <a:buFont typeface="Arial" panose="020B0604020202020204" pitchFamily="34" charset="0"/>
              <a:buChar char="•"/>
            </a:pPr>
            <a:r>
              <a:rPr lang="en-US" sz="2200" dirty="0">
                <a:latin typeface="Kalinga" panose="020B0502040204020203" pitchFamily="34" charset="0"/>
                <a:cs typeface="Kalinga" panose="020B0502040204020203" pitchFamily="34" charset="0"/>
              </a:rPr>
              <a:t>Outperforms standalone LSTM, CNN</a:t>
            </a:r>
          </a:p>
          <a:p>
            <a:pPr marL="742950" lvl="1" indent="-285750">
              <a:buFont typeface="Arial" panose="020B0604020202020204" pitchFamily="34" charset="0"/>
              <a:buChar char="•"/>
            </a:pPr>
            <a:r>
              <a:rPr lang="en-US" sz="2200" dirty="0">
                <a:latin typeface="Kalinga" panose="020B0502040204020203" pitchFamily="34" charset="0"/>
                <a:cs typeface="Kalinga" panose="020B0502040204020203" pitchFamily="34" charset="0"/>
              </a:rPr>
              <a:t>Achieves strong real-time detection</a:t>
            </a:r>
          </a:p>
          <a:p>
            <a:pPr marL="742950" lvl="1" indent="-285750">
              <a:buFont typeface="Arial" panose="020B0604020202020204" pitchFamily="34" charset="0"/>
              <a:buChar char="•"/>
            </a:pPr>
            <a:r>
              <a:rPr lang="en-US" sz="2200" dirty="0">
                <a:latin typeface="Kalinga" panose="020B0502040204020203" pitchFamily="34" charset="0"/>
                <a:cs typeface="Kalinga" panose="020B0502040204020203" pitchFamily="34" charset="0"/>
              </a:rPr>
              <a:t>Maintains low false positives</a:t>
            </a:r>
          </a:p>
          <a:p>
            <a:pPr marL="742950" lvl="1" indent="-285750">
              <a:buFont typeface="Arial" panose="020B0604020202020204" pitchFamily="34" charset="0"/>
              <a:buChar char="•"/>
            </a:pPr>
            <a:r>
              <a:rPr lang="en-US" sz="2200" dirty="0">
                <a:latin typeface="Kalinga" panose="020B0502040204020203" pitchFamily="34" charset="0"/>
                <a:cs typeface="Kalinga" panose="020B0502040204020203" pitchFamily="34" charset="0"/>
              </a:rPr>
              <a:t>Ready for integration in real-world systems</a:t>
            </a:r>
          </a:p>
          <a:p>
            <a:pPr marL="742950" lvl="1" indent="-285750">
              <a:buFont typeface="Arial" panose="020B0604020202020204" pitchFamily="34" charset="0"/>
              <a:buChar char="•"/>
            </a:pPr>
            <a:endParaRPr lang="en-US" dirty="0">
              <a:latin typeface="Kalinga" panose="020B0502040204020203" pitchFamily="34" charset="0"/>
              <a:cs typeface="Kalinga"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2400" dirty="0">
                <a:ln>
                  <a:noFill/>
                </a:ln>
                <a:effectLst/>
                <a:latin typeface="Kalinga" panose="020B0502040204020203" pitchFamily="34" charset="0"/>
                <a:cs typeface="Kalinga" panose="020B0502040204020203" pitchFamily="34" charset="0"/>
                <a:sym typeface="+mn-ea"/>
              </a:rPr>
              <a:t>The proposed Bi-LSTM + GRU hybrid model effectively detects DDoS attacks with high accuracy and low false positives.</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2400" dirty="0">
                <a:ln>
                  <a:noFill/>
                </a:ln>
                <a:effectLst/>
                <a:latin typeface="Kalinga" panose="020B0502040204020203" pitchFamily="34" charset="0"/>
                <a:cs typeface="Kalinga" panose="020B0502040204020203" pitchFamily="34" charset="0"/>
                <a:sym typeface="+mn-ea"/>
              </a:rPr>
              <a:t>It outperforms traditional and standalone deep learning models in both </a:t>
            </a:r>
            <a:r>
              <a:rPr lang="en-US" altLang="en-US" sz="2400" b="1" dirty="0">
                <a:ln>
                  <a:noFill/>
                </a:ln>
                <a:effectLst/>
                <a:latin typeface="Kalinga" panose="020B0502040204020203" pitchFamily="34" charset="0"/>
                <a:cs typeface="Kalinga" panose="020B0502040204020203" pitchFamily="34" charset="0"/>
                <a:sym typeface="+mn-ea"/>
              </a:rPr>
              <a:t>performance</a:t>
            </a:r>
            <a:r>
              <a:rPr lang="en-US" altLang="en-US" sz="2400" dirty="0">
                <a:ln>
                  <a:noFill/>
                </a:ln>
                <a:effectLst/>
                <a:latin typeface="Kalinga" panose="020B0502040204020203" pitchFamily="34" charset="0"/>
                <a:cs typeface="Kalinga" panose="020B0502040204020203" pitchFamily="34" charset="0"/>
                <a:sym typeface="+mn-ea"/>
              </a:rPr>
              <a:t> and </a:t>
            </a:r>
            <a:r>
              <a:rPr lang="en-US" altLang="en-US" sz="2400" b="1" dirty="0">
                <a:ln>
                  <a:noFill/>
                </a:ln>
                <a:effectLst/>
                <a:latin typeface="Kalinga" panose="020B0502040204020203" pitchFamily="34" charset="0"/>
                <a:cs typeface="Kalinga" panose="020B0502040204020203" pitchFamily="34" charset="0"/>
                <a:sym typeface="+mn-ea"/>
              </a:rPr>
              <a:t>efficiency</a:t>
            </a:r>
            <a:r>
              <a:rPr lang="en-US" altLang="en-US" sz="2400" dirty="0">
                <a:ln>
                  <a:noFill/>
                </a:ln>
                <a:effectLst/>
                <a:latin typeface="Kalinga" panose="020B0502040204020203" pitchFamily="34" charset="0"/>
                <a:cs typeface="Kalinga" panose="020B0502040204020203" pitchFamily="34" charset="0"/>
                <a:sym typeface="+mn-ea"/>
              </a:rPr>
              <a:t>.</a:t>
            </a: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lang="en-US" altLang="en-US" sz="2400" dirty="0">
                <a:ln>
                  <a:noFill/>
                </a:ln>
                <a:effectLst/>
                <a:latin typeface="Kalinga" panose="020B0502040204020203" pitchFamily="34" charset="0"/>
                <a:cs typeface="Kalinga" panose="020B0502040204020203" pitchFamily="34" charset="0"/>
                <a:sym typeface="+mn-ea"/>
              </a:rPr>
              <a:t>The model is scalable, adaptable, and suitable for </a:t>
            </a:r>
            <a:r>
              <a:rPr lang="en-US" altLang="en-US" sz="2400" b="1" dirty="0">
                <a:ln>
                  <a:noFill/>
                </a:ln>
                <a:effectLst/>
                <a:latin typeface="Kalinga" panose="020B0502040204020203" pitchFamily="34" charset="0"/>
                <a:cs typeface="Kalinga" panose="020B0502040204020203" pitchFamily="34" charset="0"/>
                <a:sym typeface="+mn-ea"/>
              </a:rPr>
              <a:t>real-time deployment</a:t>
            </a:r>
            <a:r>
              <a:rPr lang="en-US" altLang="en-US" sz="2400" dirty="0">
                <a:ln>
                  <a:noFill/>
                </a:ln>
                <a:effectLst/>
                <a:latin typeface="Kalinga" panose="020B0502040204020203" pitchFamily="34" charset="0"/>
                <a:cs typeface="Kalinga" panose="020B0502040204020203" pitchFamily="34" charset="0"/>
                <a:sym typeface="+mn-ea"/>
              </a:rPr>
              <a:t> in modern network environments.</a:t>
            </a:r>
            <a:endPar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endParaRPr>
          </a:p>
          <a:p>
            <a:pPr>
              <a:buFont typeface="Arial" panose="020B0604020202020204" pitchFamily="34" charset="0"/>
              <a:buChar char="•"/>
            </a:pPr>
            <a:endParaRPr lang="en-US" dirty="0">
              <a:latin typeface="Kalinga" panose="020B0502040204020203" pitchFamily="34" charset="0"/>
              <a:cs typeface="Kalinga" panose="020B0502040204020203" pitchFamily="34" charset="0"/>
            </a:endParaRPr>
          </a:p>
          <a:p>
            <a:pPr>
              <a:buFont typeface="Arial" panose="020B0604020202020204" pitchFamily="34" charset="0"/>
              <a:buChar char="•"/>
            </a:pPr>
            <a:endParaRPr lang="en-US" dirty="0">
              <a:latin typeface="Kalinga" panose="020B0502040204020203" pitchFamily="34" charset="0"/>
              <a:cs typeface="Kalinga" panose="020B0502040204020203" pitchFamily="34" charset="0"/>
            </a:endParaRPr>
          </a:p>
          <a:p>
            <a:endParaRPr lang="en-IN" dirty="0">
              <a:latin typeface="Kalinga" panose="020B0502040204020203" pitchFamily="34" charset="0"/>
              <a:cs typeface="Kalinga" panose="020B0502040204020203" pitchFamily="34" charset="0"/>
            </a:endParaRPr>
          </a:p>
        </p:txBody>
      </p:sp>
      <p:pic>
        <p:nvPicPr>
          <p:cNvPr id="5" name="Picture 4"/>
          <p:cNvPicPr>
            <a:picLocks noChangeAspect="1"/>
          </p:cNvPicPr>
          <p:nvPr/>
        </p:nvPicPr>
        <p:blipFill>
          <a:blip r:embed="rId2"/>
          <a:stretch>
            <a:fillRect/>
          </a:stretch>
        </p:blipFill>
        <p:spPr>
          <a:xfrm>
            <a:off x="10292715" y="196850"/>
            <a:ext cx="1472565" cy="10026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987790" cy="1092835"/>
          </a:xfrm>
          <a:ln>
            <a:solidFill>
              <a:schemeClr val="tx1"/>
            </a:solidFill>
          </a:ln>
        </p:spPr>
        <p:txBody>
          <a:bodyPr/>
          <a:lstStyle/>
          <a:p>
            <a:r>
              <a:rPr lang="en-IN" b="1" dirty="0">
                <a:latin typeface="Kalinga" panose="020B0502040204020203" pitchFamily="34" charset="0"/>
                <a:cs typeface="Kalinga" panose="020B0502040204020203" pitchFamily="34" charset="0"/>
              </a:rPr>
              <a:t>Future Directions</a:t>
            </a:r>
          </a:p>
        </p:txBody>
      </p:sp>
      <p:sp>
        <p:nvSpPr>
          <p:cNvPr id="4" name="Rectangle 1"/>
          <p:cNvSpPr>
            <a:spLocks noGrp="1" noChangeArrowheads="1"/>
          </p:cNvSpPr>
          <p:nvPr>
            <p:ph idx="1"/>
          </p:nvPr>
        </p:nvSpPr>
        <p:spPr bwMode="auto">
          <a:xfrm>
            <a:off x="723208" y="1842203"/>
            <a:ext cx="10996844" cy="445583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Adaptive / Online Learning</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to handle evolving and dynamic cyber-attacks in real time</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Multi-Class Classification</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to detect various attack types (e.g., SQL injection, MITM, Botnet)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Integration with SDN, IoT, and Edge Networks</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for scalable and distributed deployment</a:t>
            </a:r>
          </a:p>
          <a:p>
            <a:pPr marL="0" marR="0" lvl="0" indent="0" algn="just" defTabSz="914400" rtl="0" eaLnBrk="0" fontAlgn="base" latinLnBrk="0" hangingPunct="0">
              <a:lnSpc>
                <a:spcPct val="15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Kalinga" panose="020B0502040204020203" pitchFamily="34" charset="0"/>
                <a:cs typeface="Kalinga" panose="020B0502040204020203" pitchFamily="34" charset="0"/>
              </a:rPr>
              <a:t>Explainable AI (XAI)</a:t>
            </a:r>
            <a:r>
              <a:rPr kumimoji="0" lang="en-US" altLang="en-US" sz="2400" b="0" i="0" u="none" strike="noStrike" cap="none" normalizeH="0" baseline="0" dirty="0">
                <a:ln>
                  <a:noFill/>
                </a:ln>
                <a:solidFill>
                  <a:schemeClr val="tx1"/>
                </a:solidFill>
                <a:effectLst/>
                <a:latin typeface="Kalinga" panose="020B0502040204020203" pitchFamily="34" charset="0"/>
                <a:cs typeface="Kalinga" panose="020B0502040204020203" pitchFamily="34" charset="0"/>
              </a:rPr>
              <a:t> to increase transparency, trust, and regulatory compliance in model decisions</a:t>
            </a:r>
          </a:p>
        </p:txBody>
      </p:sp>
      <p:pic>
        <p:nvPicPr>
          <p:cNvPr id="3" name="Picture 2"/>
          <p:cNvPicPr>
            <a:picLocks noChangeAspect="1"/>
          </p:cNvPicPr>
          <p:nvPr/>
        </p:nvPicPr>
        <p:blipFill>
          <a:blip r:embed="rId2"/>
          <a:stretch>
            <a:fillRect/>
          </a:stretch>
        </p:blipFill>
        <p:spPr>
          <a:xfrm>
            <a:off x="10293350" y="292735"/>
            <a:ext cx="1426845" cy="971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723</Words>
  <Application>Microsoft Office PowerPoint</Application>
  <PresentationFormat>Widescreen</PresentationFormat>
  <Paragraphs>116</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Bahamas</vt:lpstr>
      <vt:lpstr>Calibri</vt:lpstr>
      <vt:lpstr>Calibri Light</vt:lpstr>
      <vt:lpstr>Kalinga</vt:lpstr>
      <vt:lpstr>Times New Roman</vt:lpstr>
      <vt:lpstr>Office Theme</vt:lpstr>
      <vt:lpstr>PowerPoint Presentation</vt:lpstr>
      <vt:lpstr>Outlines</vt:lpstr>
      <vt:lpstr>Abstract</vt:lpstr>
      <vt:lpstr>Introduction </vt:lpstr>
      <vt:lpstr>Existing System</vt:lpstr>
      <vt:lpstr>Pros and Cons of Existing Systems</vt:lpstr>
      <vt:lpstr>Proposed Model</vt:lpstr>
      <vt:lpstr>Dataset Specifications</vt:lpstr>
      <vt:lpstr>Comparison Table and Graph</vt:lpstr>
      <vt:lpstr>Proposed Model Results</vt:lpstr>
      <vt:lpstr>PowerPoint Presentation</vt:lpstr>
      <vt:lpstr>PowerPoint Presentation</vt:lpstr>
      <vt:lpstr>Sustainability Development Goals (SDGs)</vt:lpstr>
      <vt:lpstr> Conclusion </vt:lpstr>
      <vt:lpstr>Future Directions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 k</dc:creator>
  <cp:lastModifiedBy>10 k</cp:lastModifiedBy>
  <cp:revision>3</cp:revision>
  <dcterms:created xsi:type="dcterms:W3CDTF">2025-05-01T18:22:00Z</dcterms:created>
  <dcterms:modified xsi:type="dcterms:W3CDTF">2025-05-02T05:35:35Z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D2CA3713D34F4DA882122E155F689F96_12</vt:lpwstr>
  </property>
  <property fmtid="{D5CDD505-2E9C-101B-9397-08002B2CF9AE}" pid="3" name="KSOProductBuildVer">
    <vt:lpwstr>2057-12.2.0.20796</vt:lpwstr>
  </property>
</Properties>
</file>